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70" r:id="rId6"/>
    <p:sldId id="261" r:id="rId7"/>
    <p:sldId id="262" r:id="rId8"/>
    <p:sldId id="263" r:id="rId9"/>
    <p:sldId id="264" r:id="rId10"/>
    <p:sldId id="265" r:id="rId11"/>
    <p:sldId id="268" r:id="rId12"/>
    <p:sldId id="269" r:id="rId13"/>
    <p:sldId id="272" r:id="rId14"/>
    <p:sldId id="273" r:id="rId15"/>
    <p:sldId id="267" r:id="rId16"/>
  </p:sldIdLst>
  <p:sldSz cx="18288000" cy="10287000"/>
  <p:notesSz cx="6858000" cy="9144000"/>
  <p:embeddedFontLst>
    <p:embeddedFont>
      <p:font typeface="Poppins" panose="00000500000000000000" pitchFamily="2" charset="0"/>
      <p:regular r:id="rId17"/>
    </p:embeddedFont>
    <p:embeddedFont>
      <p:font typeface="Poppins Bold" panose="00000800000000000000" charset="0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>
        <p:scale>
          <a:sx n="57" d="100"/>
          <a:sy n="57" d="100"/>
        </p:scale>
        <p:origin x="562" y="173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svg"/><Relationship Id="rId4" Type="http://schemas.openxmlformats.org/officeDocument/2006/relationships/image" Target="../media/image5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svg"/><Relationship Id="rId4" Type="http://schemas.openxmlformats.org/officeDocument/2006/relationships/image" Target="../media/image1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8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jpeg"/><Relationship Id="rId5" Type="http://schemas.openxmlformats.org/officeDocument/2006/relationships/image" Target="../media/image3.svg"/><Relationship Id="rId4" Type="http://schemas.openxmlformats.org/officeDocument/2006/relationships/image" Target="../media/image11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svg"/><Relationship Id="rId4" Type="http://schemas.openxmlformats.org/officeDocument/2006/relationships/image" Target="../media/image5.sv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svg"/><Relationship Id="rId4" Type="http://schemas.openxmlformats.org/officeDocument/2006/relationships/image" Target="../media/image5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svg"/><Relationship Id="rId4" Type="http://schemas.openxmlformats.org/officeDocument/2006/relationships/image" Target="../media/image11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svg"/><Relationship Id="rId4" Type="http://schemas.openxmlformats.org/officeDocument/2006/relationships/image" Target="../media/image11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svg"/><Relationship Id="rId4" Type="http://schemas.openxmlformats.org/officeDocument/2006/relationships/image" Target="../media/image11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svg"/><Relationship Id="rId4" Type="http://schemas.openxmlformats.org/officeDocument/2006/relationships/image" Target="../media/image11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svg"/><Relationship Id="rId4" Type="http://schemas.openxmlformats.org/officeDocument/2006/relationships/image" Target="../media/image11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368171">
            <a:off x="2163743" y="1279939"/>
            <a:ext cx="8325708" cy="7947266"/>
          </a:xfrm>
          <a:custGeom>
            <a:avLst/>
            <a:gdLst/>
            <a:ahLst/>
            <a:cxnLst/>
            <a:rect l="l" t="t" r="r" b="b"/>
            <a:pathLst>
              <a:path w="8325708" h="7947266">
                <a:moveTo>
                  <a:pt x="0" y="0"/>
                </a:moveTo>
                <a:lnTo>
                  <a:pt x="8325707" y="0"/>
                </a:lnTo>
                <a:lnTo>
                  <a:pt x="8325707" y="7947267"/>
                </a:lnTo>
                <a:lnTo>
                  <a:pt x="0" y="794726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8999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372000" y="5143500"/>
            <a:ext cx="7344135" cy="755647"/>
            <a:chOff x="0" y="0"/>
            <a:chExt cx="1511139" cy="15548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511139" cy="155483"/>
            </a:xfrm>
            <a:custGeom>
              <a:avLst/>
              <a:gdLst/>
              <a:ahLst/>
              <a:cxnLst/>
              <a:rect l="l" t="t" r="r" b="b"/>
              <a:pathLst>
                <a:path w="1511139" h="155483">
                  <a:moveTo>
                    <a:pt x="77742" y="0"/>
                  </a:moveTo>
                  <a:lnTo>
                    <a:pt x="1433397" y="0"/>
                  </a:lnTo>
                  <a:cubicBezTo>
                    <a:pt x="1454016" y="0"/>
                    <a:pt x="1473789" y="8191"/>
                    <a:pt x="1488369" y="22770"/>
                  </a:cubicBezTo>
                  <a:cubicBezTo>
                    <a:pt x="1502948" y="37349"/>
                    <a:pt x="1511139" y="57123"/>
                    <a:pt x="1511139" y="77742"/>
                  </a:cubicBezTo>
                  <a:lnTo>
                    <a:pt x="1511139" y="77742"/>
                  </a:lnTo>
                  <a:cubicBezTo>
                    <a:pt x="1511139" y="120677"/>
                    <a:pt x="1476333" y="155483"/>
                    <a:pt x="1433397" y="155483"/>
                  </a:cubicBezTo>
                  <a:lnTo>
                    <a:pt x="77742" y="155483"/>
                  </a:lnTo>
                  <a:cubicBezTo>
                    <a:pt x="57123" y="155483"/>
                    <a:pt x="37349" y="147292"/>
                    <a:pt x="22770" y="132713"/>
                  </a:cubicBezTo>
                  <a:cubicBezTo>
                    <a:pt x="8191" y="118134"/>
                    <a:pt x="0" y="98360"/>
                    <a:pt x="0" y="77742"/>
                  </a:cubicBezTo>
                  <a:lnTo>
                    <a:pt x="0" y="77742"/>
                  </a:lnTo>
                  <a:cubicBezTo>
                    <a:pt x="0" y="57123"/>
                    <a:pt x="8191" y="37349"/>
                    <a:pt x="22770" y="22770"/>
                  </a:cubicBezTo>
                  <a:cubicBezTo>
                    <a:pt x="37349" y="8191"/>
                    <a:pt x="57123" y="0"/>
                    <a:pt x="77742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1511139" cy="1935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0854213" y="-1661893"/>
            <a:ext cx="9460517" cy="9460517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1155667" y="2125663"/>
            <a:ext cx="6791321" cy="6791321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3"/>
              <a:stretch>
                <a:fillRect l="-27517" r="-55815"/>
              </a:stretch>
            </a:blipFill>
          </p:spPr>
        </p:sp>
      </p:grpSp>
      <p:grpSp>
        <p:nvGrpSpPr>
          <p:cNvPr id="11" name="Group 11"/>
          <p:cNvGrpSpPr/>
          <p:nvPr/>
        </p:nvGrpSpPr>
        <p:grpSpPr>
          <a:xfrm>
            <a:off x="-844289" y="8822784"/>
            <a:ext cx="7425704" cy="7425704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2728668" y="-2824047"/>
            <a:ext cx="3852747" cy="3852747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7" name="Freeform 17"/>
          <p:cNvSpPr/>
          <p:nvPr/>
        </p:nvSpPr>
        <p:spPr>
          <a:xfrm>
            <a:off x="15628197" y="-2170445"/>
            <a:ext cx="4637582" cy="4114800"/>
          </a:xfrm>
          <a:custGeom>
            <a:avLst/>
            <a:gdLst/>
            <a:ahLst/>
            <a:cxnLst/>
            <a:rect l="l" t="t" r="r" b="b"/>
            <a:pathLst>
              <a:path w="4637582" h="4114800">
                <a:moveTo>
                  <a:pt x="0" y="0"/>
                </a:moveTo>
                <a:lnTo>
                  <a:pt x="4637582" y="0"/>
                </a:lnTo>
                <a:lnTo>
                  <a:pt x="463758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8" name="Freeform 18"/>
          <p:cNvSpPr/>
          <p:nvPr/>
        </p:nvSpPr>
        <p:spPr>
          <a:xfrm>
            <a:off x="1372000" y="8677424"/>
            <a:ext cx="4637582" cy="4114800"/>
          </a:xfrm>
          <a:custGeom>
            <a:avLst/>
            <a:gdLst/>
            <a:ahLst/>
            <a:cxnLst/>
            <a:rect l="l" t="t" r="r" b="b"/>
            <a:pathLst>
              <a:path w="4637582" h="4114800">
                <a:moveTo>
                  <a:pt x="0" y="0"/>
                </a:moveTo>
                <a:lnTo>
                  <a:pt x="4637582" y="0"/>
                </a:lnTo>
                <a:lnTo>
                  <a:pt x="463758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9" name="Freeform 19"/>
          <p:cNvSpPr/>
          <p:nvPr/>
        </p:nvSpPr>
        <p:spPr>
          <a:xfrm>
            <a:off x="3909856" y="-3086100"/>
            <a:ext cx="4637582" cy="4114800"/>
          </a:xfrm>
          <a:custGeom>
            <a:avLst/>
            <a:gdLst/>
            <a:ahLst/>
            <a:cxnLst/>
            <a:rect l="l" t="t" r="r" b="b"/>
            <a:pathLst>
              <a:path w="4637582" h="4114800">
                <a:moveTo>
                  <a:pt x="0" y="0"/>
                </a:moveTo>
                <a:lnTo>
                  <a:pt x="4637582" y="0"/>
                </a:lnTo>
                <a:lnTo>
                  <a:pt x="463758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20" name="TextBox 20"/>
          <p:cNvSpPr txBox="1"/>
          <p:nvPr/>
        </p:nvSpPr>
        <p:spPr>
          <a:xfrm>
            <a:off x="1540697" y="5058263"/>
            <a:ext cx="7006741" cy="7927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128"/>
              </a:lnSpc>
            </a:pPr>
            <a:r>
              <a:rPr lang="en-US" sz="4377" b="1">
                <a:solidFill>
                  <a:srgbClr val="F4F6FC"/>
                </a:solidFill>
                <a:latin typeface="Poppins Bold"/>
                <a:ea typeface="Poppins Bold"/>
                <a:cs typeface="Poppins Bold"/>
                <a:sym typeface="Poppins Bold"/>
              </a:rPr>
              <a:t>PROJECT PRESENTATION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89302C1-525F-1516-DABB-97AF2B8AB0D2}"/>
              </a:ext>
            </a:extLst>
          </p:cNvPr>
          <p:cNvSpPr txBox="1"/>
          <p:nvPr/>
        </p:nvSpPr>
        <p:spPr>
          <a:xfrm>
            <a:off x="1752600" y="1592237"/>
            <a:ext cx="10580914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6600" b="1" u="sng" dirty="0" err="1"/>
              <a:t>SkyPNR</a:t>
            </a:r>
            <a:r>
              <a:rPr lang="en-IN" sz="6600" b="1" u="sng" dirty="0"/>
              <a:t> Airline</a:t>
            </a:r>
          </a:p>
          <a:p>
            <a:r>
              <a:rPr lang="en-IN" sz="6600" b="1" u="sng" dirty="0"/>
              <a:t> Management System.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4538771" y="-249641"/>
            <a:ext cx="10786283" cy="10786283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2545393" y="1028700"/>
            <a:ext cx="3833305" cy="8229600"/>
            <a:chOff x="0" y="0"/>
            <a:chExt cx="593879" cy="127498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593879" cy="1274980"/>
            </a:xfrm>
            <a:custGeom>
              <a:avLst/>
              <a:gdLst/>
              <a:ahLst/>
              <a:cxnLst/>
              <a:rect l="l" t="t" r="r" b="b"/>
              <a:pathLst>
                <a:path w="593879" h="1274980">
                  <a:moveTo>
                    <a:pt x="201965" y="0"/>
                  </a:moveTo>
                  <a:lnTo>
                    <a:pt x="391915" y="0"/>
                  </a:lnTo>
                  <a:cubicBezTo>
                    <a:pt x="503457" y="0"/>
                    <a:pt x="593879" y="90423"/>
                    <a:pt x="593879" y="201965"/>
                  </a:cubicBezTo>
                  <a:lnTo>
                    <a:pt x="593879" y="1073016"/>
                  </a:lnTo>
                  <a:cubicBezTo>
                    <a:pt x="593879" y="1126580"/>
                    <a:pt x="572601" y="1177951"/>
                    <a:pt x="534725" y="1215826"/>
                  </a:cubicBezTo>
                  <a:cubicBezTo>
                    <a:pt x="496850" y="1253702"/>
                    <a:pt x="445479" y="1274980"/>
                    <a:pt x="391915" y="1274980"/>
                  </a:cubicBezTo>
                  <a:lnTo>
                    <a:pt x="201965" y="1274980"/>
                  </a:lnTo>
                  <a:cubicBezTo>
                    <a:pt x="90423" y="1274980"/>
                    <a:pt x="0" y="1184558"/>
                    <a:pt x="0" y="1073016"/>
                  </a:cubicBezTo>
                  <a:lnTo>
                    <a:pt x="0" y="201965"/>
                  </a:lnTo>
                  <a:cubicBezTo>
                    <a:pt x="0" y="90423"/>
                    <a:pt x="90423" y="0"/>
                    <a:pt x="201965" y="0"/>
                  </a:cubicBezTo>
                  <a:close/>
                </a:path>
              </a:pathLst>
            </a:custGeom>
            <a:blipFill>
              <a:blip r:embed="rId2"/>
              <a:stretch>
                <a:fillRect l="-21627" r="-21627"/>
              </a:stretch>
            </a:blipFill>
          </p:spPr>
        </p:sp>
      </p:grpSp>
      <p:sp>
        <p:nvSpPr>
          <p:cNvPr id="7" name="Freeform 7"/>
          <p:cNvSpPr/>
          <p:nvPr/>
        </p:nvSpPr>
        <p:spPr>
          <a:xfrm rot="-1368171">
            <a:off x="8138760" y="3002675"/>
            <a:ext cx="8325708" cy="7947266"/>
          </a:xfrm>
          <a:custGeom>
            <a:avLst/>
            <a:gdLst/>
            <a:ahLst/>
            <a:cxnLst/>
            <a:rect l="l" t="t" r="r" b="b"/>
            <a:pathLst>
              <a:path w="8325708" h="7947266">
                <a:moveTo>
                  <a:pt x="0" y="0"/>
                </a:moveTo>
                <a:lnTo>
                  <a:pt x="8325708" y="0"/>
                </a:lnTo>
                <a:lnTo>
                  <a:pt x="8325708" y="7947267"/>
                </a:lnTo>
                <a:lnTo>
                  <a:pt x="0" y="794726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8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8" name="Group 8"/>
          <p:cNvGrpSpPr/>
          <p:nvPr/>
        </p:nvGrpSpPr>
        <p:grpSpPr>
          <a:xfrm>
            <a:off x="17354291" y="-499283"/>
            <a:ext cx="10786283" cy="10786283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1" name="Freeform 11"/>
          <p:cNvSpPr/>
          <p:nvPr/>
        </p:nvSpPr>
        <p:spPr>
          <a:xfrm rot="5400000">
            <a:off x="-4080554" y="3955733"/>
            <a:ext cx="10536641" cy="2375534"/>
          </a:xfrm>
          <a:custGeom>
            <a:avLst/>
            <a:gdLst/>
            <a:ahLst/>
            <a:cxnLst/>
            <a:rect l="l" t="t" r="r" b="b"/>
            <a:pathLst>
              <a:path w="10536641" h="2375534">
                <a:moveTo>
                  <a:pt x="0" y="0"/>
                </a:moveTo>
                <a:lnTo>
                  <a:pt x="10536642" y="0"/>
                </a:lnTo>
                <a:lnTo>
                  <a:pt x="10536642" y="2375534"/>
                </a:lnTo>
                <a:lnTo>
                  <a:pt x="0" y="237553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17354291" y="4480324"/>
            <a:ext cx="4637582" cy="4114800"/>
          </a:xfrm>
          <a:custGeom>
            <a:avLst/>
            <a:gdLst/>
            <a:ahLst/>
            <a:cxnLst/>
            <a:rect l="l" t="t" r="r" b="b"/>
            <a:pathLst>
              <a:path w="4637582" h="4114800">
                <a:moveTo>
                  <a:pt x="0" y="0"/>
                </a:moveTo>
                <a:lnTo>
                  <a:pt x="4637582" y="0"/>
                </a:lnTo>
                <a:lnTo>
                  <a:pt x="463758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10553275" y="1179427"/>
            <a:ext cx="6581941" cy="17602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6606"/>
              </a:lnSpc>
            </a:pPr>
            <a:r>
              <a:rPr lang="en-US" sz="6061" b="1">
                <a:solidFill>
                  <a:srgbClr val="051D40"/>
                </a:solidFill>
                <a:latin typeface="Poppins Bold"/>
                <a:ea typeface="Poppins Bold"/>
                <a:cs typeface="Poppins Bold"/>
                <a:sym typeface="Poppins Bold"/>
              </a:rPr>
              <a:t>PROJECT INTRODUCTION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873865" y="3505421"/>
            <a:ext cx="9611612" cy="491467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3496"/>
              </a:lnSpc>
            </a:pPr>
            <a:r>
              <a:rPr lang="en-US" sz="2497" dirty="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The </a:t>
            </a:r>
            <a:r>
              <a:rPr lang="en-US" sz="2497" dirty="0" err="1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SkyPNR</a:t>
            </a:r>
            <a:r>
              <a:rPr lang="en-US" sz="2497" dirty="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 Airline Management System is designed to simplify airline reservation and passenger management </a:t>
            </a:r>
            <a:r>
              <a:rPr lang="en-US" sz="2497" dirty="0" err="1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processes.It</a:t>
            </a:r>
            <a:r>
              <a:rPr lang="en-US" sz="2497" dirty="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 provides a centralized platform where administrators can manage aircraft, passengers, bookings, and seat assignments through an easy-to-use</a:t>
            </a:r>
          </a:p>
          <a:p>
            <a:pPr algn="r">
              <a:lnSpc>
                <a:spcPts val="3496"/>
              </a:lnSpc>
            </a:pPr>
            <a:r>
              <a:rPr lang="en-US" sz="2497" dirty="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interface</a:t>
            </a:r>
            <a:br>
              <a:rPr lang="en-US" sz="2497" dirty="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lang="en-US" sz="2497" dirty="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This project is a web-based airline operations management platform developed using modern web technologies. It helps manage passengers, bookings, aircraft, seat allocation, PNR search, QR code generation, and boarding pass downloads efficiently..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3701559" y="5143500"/>
            <a:ext cx="9460517" cy="9460517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3557741" y="-7145674"/>
            <a:ext cx="9460517" cy="9460517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028700" y="3719897"/>
            <a:ext cx="5538403" cy="5538403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2"/>
              <a:stretch>
                <a:fillRect t="-37518" b="-12345"/>
              </a:stretch>
            </a:blipFill>
          </p:spPr>
        </p:sp>
      </p:grpSp>
      <p:grpSp>
        <p:nvGrpSpPr>
          <p:cNvPr id="10" name="Group 10"/>
          <p:cNvGrpSpPr/>
          <p:nvPr/>
        </p:nvGrpSpPr>
        <p:grpSpPr>
          <a:xfrm>
            <a:off x="4949272" y="6313646"/>
            <a:ext cx="3560113" cy="3560113"/>
            <a:chOff x="0" y="0"/>
            <a:chExt cx="812800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3"/>
              <a:stretch>
                <a:fillRect l="-48225" r="-1587"/>
              </a:stretch>
            </a:blipFill>
          </p:spPr>
        </p:sp>
      </p:grpSp>
      <p:sp>
        <p:nvSpPr>
          <p:cNvPr id="12" name="Freeform 12"/>
          <p:cNvSpPr/>
          <p:nvPr/>
        </p:nvSpPr>
        <p:spPr>
          <a:xfrm rot="-1368171">
            <a:off x="9756386" y="3847826"/>
            <a:ext cx="8325708" cy="7947266"/>
          </a:xfrm>
          <a:custGeom>
            <a:avLst/>
            <a:gdLst/>
            <a:ahLst/>
            <a:cxnLst/>
            <a:rect l="l" t="t" r="r" b="b"/>
            <a:pathLst>
              <a:path w="8325708" h="7947266">
                <a:moveTo>
                  <a:pt x="0" y="0"/>
                </a:moveTo>
                <a:lnTo>
                  <a:pt x="8325708" y="0"/>
                </a:lnTo>
                <a:lnTo>
                  <a:pt x="8325708" y="7947266"/>
                </a:lnTo>
                <a:lnTo>
                  <a:pt x="0" y="794726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8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16181485" y="-1450422"/>
            <a:ext cx="5224933" cy="4635940"/>
          </a:xfrm>
          <a:custGeom>
            <a:avLst/>
            <a:gdLst/>
            <a:ahLst/>
            <a:cxnLst/>
            <a:rect l="l" t="t" r="r" b="b"/>
            <a:pathLst>
              <a:path w="5224933" h="4635940">
                <a:moveTo>
                  <a:pt x="0" y="0"/>
                </a:moveTo>
                <a:lnTo>
                  <a:pt x="5224932" y="0"/>
                </a:lnTo>
                <a:lnTo>
                  <a:pt x="5224932" y="4635940"/>
                </a:lnTo>
                <a:lnTo>
                  <a:pt x="0" y="463594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5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-3391895" y="3185518"/>
            <a:ext cx="5224933" cy="4635940"/>
          </a:xfrm>
          <a:custGeom>
            <a:avLst/>
            <a:gdLst/>
            <a:ahLst/>
            <a:cxnLst/>
            <a:rect l="l" t="t" r="r" b="b"/>
            <a:pathLst>
              <a:path w="5224933" h="4635940">
                <a:moveTo>
                  <a:pt x="0" y="0"/>
                </a:moveTo>
                <a:lnTo>
                  <a:pt x="5224933" y="0"/>
                </a:lnTo>
                <a:lnTo>
                  <a:pt x="5224933" y="4635941"/>
                </a:lnTo>
                <a:lnTo>
                  <a:pt x="0" y="463594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6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>
            <a:off x="-1475474" y="8294851"/>
            <a:ext cx="7610227" cy="6752346"/>
          </a:xfrm>
          <a:custGeom>
            <a:avLst/>
            <a:gdLst/>
            <a:ahLst/>
            <a:cxnLst/>
            <a:rect l="l" t="t" r="r" b="b"/>
            <a:pathLst>
              <a:path w="7610227" h="6752346">
                <a:moveTo>
                  <a:pt x="0" y="0"/>
                </a:moveTo>
                <a:lnTo>
                  <a:pt x="7610226" y="0"/>
                </a:lnTo>
                <a:lnTo>
                  <a:pt x="7610226" y="6752347"/>
                </a:lnTo>
                <a:lnTo>
                  <a:pt x="0" y="675234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6" name="TextBox 16"/>
          <p:cNvSpPr txBox="1"/>
          <p:nvPr/>
        </p:nvSpPr>
        <p:spPr>
          <a:xfrm>
            <a:off x="5268515" y="724225"/>
            <a:ext cx="6111420" cy="16987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6606"/>
              </a:lnSpc>
            </a:pPr>
            <a:r>
              <a:rPr lang="en-US" sz="6061" b="1">
                <a:solidFill>
                  <a:srgbClr val="051D40"/>
                </a:solidFill>
                <a:latin typeface="Poppins Bold"/>
                <a:ea typeface="Poppins Bold"/>
                <a:cs typeface="Poppins Bold"/>
                <a:sym typeface="Poppins Bold"/>
              </a:rPr>
              <a:t>Problem Statement</a:t>
            </a:r>
            <a:endParaRPr lang="en-US" sz="6061" b="1" dirty="0">
              <a:solidFill>
                <a:srgbClr val="051D40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  <p:sp>
        <p:nvSpPr>
          <p:cNvPr id="20" name="Freeform 20"/>
          <p:cNvSpPr/>
          <p:nvPr/>
        </p:nvSpPr>
        <p:spPr>
          <a:xfrm rot="10165856">
            <a:off x="2662051" y="-2415415"/>
            <a:ext cx="5680119" cy="5039815"/>
          </a:xfrm>
          <a:custGeom>
            <a:avLst/>
            <a:gdLst/>
            <a:ahLst/>
            <a:cxnLst/>
            <a:rect l="l" t="t" r="r" b="b"/>
            <a:pathLst>
              <a:path w="5680119" h="5039815">
                <a:moveTo>
                  <a:pt x="0" y="0"/>
                </a:moveTo>
                <a:lnTo>
                  <a:pt x="5680118" y="0"/>
                </a:lnTo>
                <a:lnTo>
                  <a:pt x="5680118" y="5039814"/>
                </a:lnTo>
                <a:lnTo>
                  <a:pt x="0" y="503981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18999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22AAB83-C858-26FA-C505-29BD3E9F02C7}"/>
              </a:ext>
            </a:extLst>
          </p:cNvPr>
          <p:cNvSpPr txBox="1"/>
          <p:nvPr/>
        </p:nvSpPr>
        <p:spPr>
          <a:xfrm>
            <a:off x="8676597" y="3133785"/>
            <a:ext cx="7504887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dirty="0"/>
              <a:t>In traditional systems, airline operations involve a lot of manual </a:t>
            </a:r>
            <a:r>
              <a:rPr lang="en-IN" sz="3200" dirty="0" err="1"/>
              <a:t>work.Challenges</a:t>
            </a:r>
            <a:r>
              <a:rPr lang="en-IN" sz="3200" dirty="0"/>
              <a:t> </a:t>
            </a:r>
            <a:r>
              <a:rPr lang="en-IN" sz="3200" dirty="0" err="1"/>
              <a:t>include:Managing</a:t>
            </a:r>
            <a:r>
              <a:rPr lang="en-IN" sz="3200" dirty="0"/>
              <a:t> passenger records </a:t>
            </a:r>
            <a:r>
              <a:rPr lang="en-IN" sz="3200" dirty="0" err="1"/>
              <a:t>manuallyDifficulty</a:t>
            </a:r>
            <a:r>
              <a:rPr lang="en-IN" sz="3200" dirty="0"/>
              <a:t> in tracking </a:t>
            </a:r>
            <a:r>
              <a:rPr lang="en-IN" sz="3200" dirty="0" err="1"/>
              <a:t>bookingsTime</a:t>
            </a:r>
            <a:r>
              <a:rPr lang="en-IN" sz="3200" dirty="0"/>
              <a:t>-consuming seat </a:t>
            </a:r>
            <a:r>
              <a:rPr lang="en-IN" sz="3200" dirty="0" err="1"/>
              <a:t>allocationLack</a:t>
            </a:r>
            <a:r>
              <a:rPr lang="en-IN" sz="3200" dirty="0"/>
              <a:t> of centralized information </a:t>
            </a:r>
            <a:r>
              <a:rPr lang="en-IN" sz="3200" dirty="0" err="1"/>
              <a:t>managementTo</a:t>
            </a:r>
            <a:r>
              <a:rPr lang="en-IN" sz="3200" dirty="0"/>
              <a:t> solve these problems, the </a:t>
            </a:r>
            <a:r>
              <a:rPr lang="en-IN" sz="3200" dirty="0" err="1"/>
              <a:t>SkyPNR</a:t>
            </a:r>
            <a:r>
              <a:rPr lang="en-IN" sz="3200" dirty="0"/>
              <a:t> system automates airline operations and improves efficiency.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1030075" y="-798034"/>
            <a:ext cx="11261636" cy="8558844"/>
          </a:xfrm>
          <a:custGeom>
            <a:avLst/>
            <a:gdLst/>
            <a:ahLst/>
            <a:cxnLst/>
            <a:rect l="l" t="t" r="r" b="b"/>
            <a:pathLst>
              <a:path w="11261636" h="8558844">
                <a:moveTo>
                  <a:pt x="0" y="0"/>
                </a:moveTo>
                <a:lnTo>
                  <a:pt x="11261636" y="0"/>
                </a:lnTo>
                <a:lnTo>
                  <a:pt x="11261636" y="8558844"/>
                </a:lnTo>
                <a:lnTo>
                  <a:pt x="0" y="855884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12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124244" y="6861499"/>
            <a:ext cx="18536489" cy="4179136"/>
          </a:xfrm>
          <a:custGeom>
            <a:avLst/>
            <a:gdLst/>
            <a:ahLst/>
            <a:cxnLst/>
            <a:rect l="l" t="t" r="r" b="b"/>
            <a:pathLst>
              <a:path w="18536489" h="4179136">
                <a:moveTo>
                  <a:pt x="0" y="0"/>
                </a:moveTo>
                <a:lnTo>
                  <a:pt x="18536488" y="0"/>
                </a:lnTo>
                <a:lnTo>
                  <a:pt x="18536488" y="4179135"/>
                </a:lnTo>
                <a:lnTo>
                  <a:pt x="0" y="417913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2155104" y="4086344"/>
            <a:ext cx="6006434" cy="6954291"/>
            <a:chOff x="0" y="0"/>
            <a:chExt cx="1235892" cy="1430924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235892" cy="1430924"/>
            </a:xfrm>
            <a:custGeom>
              <a:avLst/>
              <a:gdLst/>
              <a:ahLst/>
              <a:cxnLst/>
              <a:rect l="l" t="t" r="r" b="b"/>
              <a:pathLst>
                <a:path w="1235892" h="1430924">
                  <a:moveTo>
                    <a:pt x="64447" y="0"/>
                  </a:moveTo>
                  <a:lnTo>
                    <a:pt x="1171445" y="0"/>
                  </a:lnTo>
                  <a:cubicBezTo>
                    <a:pt x="1188537" y="0"/>
                    <a:pt x="1204930" y="6790"/>
                    <a:pt x="1217016" y="18876"/>
                  </a:cubicBezTo>
                  <a:cubicBezTo>
                    <a:pt x="1229102" y="30962"/>
                    <a:pt x="1235892" y="47355"/>
                    <a:pt x="1235892" y="64447"/>
                  </a:cubicBezTo>
                  <a:lnTo>
                    <a:pt x="1235892" y="1366477"/>
                  </a:lnTo>
                  <a:cubicBezTo>
                    <a:pt x="1235892" y="1383570"/>
                    <a:pt x="1229102" y="1399962"/>
                    <a:pt x="1217016" y="1412048"/>
                  </a:cubicBezTo>
                  <a:cubicBezTo>
                    <a:pt x="1204930" y="1424134"/>
                    <a:pt x="1188537" y="1430924"/>
                    <a:pt x="1171445" y="1430924"/>
                  </a:cubicBezTo>
                  <a:lnTo>
                    <a:pt x="64447" y="1430924"/>
                  </a:lnTo>
                  <a:cubicBezTo>
                    <a:pt x="47355" y="1430924"/>
                    <a:pt x="30962" y="1424134"/>
                    <a:pt x="18876" y="1412048"/>
                  </a:cubicBezTo>
                  <a:cubicBezTo>
                    <a:pt x="6790" y="1399962"/>
                    <a:pt x="0" y="1383570"/>
                    <a:pt x="0" y="1366477"/>
                  </a:cubicBezTo>
                  <a:lnTo>
                    <a:pt x="0" y="64447"/>
                  </a:lnTo>
                  <a:cubicBezTo>
                    <a:pt x="0" y="47355"/>
                    <a:pt x="6790" y="30962"/>
                    <a:pt x="18876" y="18876"/>
                  </a:cubicBezTo>
                  <a:cubicBezTo>
                    <a:pt x="30962" y="6790"/>
                    <a:pt x="47355" y="0"/>
                    <a:pt x="64447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1235892" cy="146902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0126462" y="4086344"/>
            <a:ext cx="6006434" cy="6954291"/>
            <a:chOff x="0" y="0"/>
            <a:chExt cx="1235892" cy="1430924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235892" cy="1430924"/>
            </a:xfrm>
            <a:custGeom>
              <a:avLst/>
              <a:gdLst/>
              <a:ahLst/>
              <a:cxnLst/>
              <a:rect l="l" t="t" r="r" b="b"/>
              <a:pathLst>
                <a:path w="1235892" h="1430924">
                  <a:moveTo>
                    <a:pt x="64447" y="0"/>
                  </a:moveTo>
                  <a:lnTo>
                    <a:pt x="1171445" y="0"/>
                  </a:lnTo>
                  <a:cubicBezTo>
                    <a:pt x="1188537" y="0"/>
                    <a:pt x="1204930" y="6790"/>
                    <a:pt x="1217016" y="18876"/>
                  </a:cubicBezTo>
                  <a:cubicBezTo>
                    <a:pt x="1229102" y="30962"/>
                    <a:pt x="1235892" y="47355"/>
                    <a:pt x="1235892" y="64447"/>
                  </a:cubicBezTo>
                  <a:lnTo>
                    <a:pt x="1235892" y="1366477"/>
                  </a:lnTo>
                  <a:cubicBezTo>
                    <a:pt x="1235892" y="1383570"/>
                    <a:pt x="1229102" y="1399962"/>
                    <a:pt x="1217016" y="1412048"/>
                  </a:cubicBezTo>
                  <a:cubicBezTo>
                    <a:pt x="1204930" y="1424134"/>
                    <a:pt x="1188537" y="1430924"/>
                    <a:pt x="1171445" y="1430924"/>
                  </a:cubicBezTo>
                  <a:lnTo>
                    <a:pt x="64447" y="1430924"/>
                  </a:lnTo>
                  <a:cubicBezTo>
                    <a:pt x="47355" y="1430924"/>
                    <a:pt x="30962" y="1424134"/>
                    <a:pt x="18876" y="1412048"/>
                  </a:cubicBezTo>
                  <a:cubicBezTo>
                    <a:pt x="6790" y="1399962"/>
                    <a:pt x="0" y="1383570"/>
                    <a:pt x="0" y="1366477"/>
                  </a:cubicBezTo>
                  <a:lnTo>
                    <a:pt x="0" y="64447"/>
                  </a:lnTo>
                  <a:cubicBezTo>
                    <a:pt x="0" y="47355"/>
                    <a:pt x="6790" y="30962"/>
                    <a:pt x="18876" y="18876"/>
                  </a:cubicBezTo>
                  <a:cubicBezTo>
                    <a:pt x="30962" y="6790"/>
                    <a:pt x="47355" y="0"/>
                    <a:pt x="64447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1235892" cy="146902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0" name="Freeform 10"/>
          <p:cNvSpPr/>
          <p:nvPr/>
        </p:nvSpPr>
        <p:spPr>
          <a:xfrm>
            <a:off x="4758975" y="8877106"/>
            <a:ext cx="798692" cy="762387"/>
          </a:xfrm>
          <a:custGeom>
            <a:avLst/>
            <a:gdLst/>
            <a:ahLst/>
            <a:cxnLst/>
            <a:rect l="l" t="t" r="r" b="b"/>
            <a:pathLst>
              <a:path w="798692" h="762387">
                <a:moveTo>
                  <a:pt x="0" y="0"/>
                </a:moveTo>
                <a:lnTo>
                  <a:pt x="798692" y="0"/>
                </a:lnTo>
                <a:lnTo>
                  <a:pt x="798692" y="762388"/>
                </a:lnTo>
                <a:lnTo>
                  <a:pt x="0" y="76238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12730333" y="8877106"/>
            <a:ext cx="798692" cy="762387"/>
          </a:xfrm>
          <a:custGeom>
            <a:avLst/>
            <a:gdLst/>
            <a:ahLst/>
            <a:cxnLst/>
            <a:rect l="l" t="t" r="r" b="b"/>
            <a:pathLst>
              <a:path w="798692" h="762387">
                <a:moveTo>
                  <a:pt x="0" y="0"/>
                </a:moveTo>
                <a:lnTo>
                  <a:pt x="798692" y="0"/>
                </a:lnTo>
                <a:lnTo>
                  <a:pt x="798692" y="762388"/>
                </a:lnTo>
                <a:lnTo>
                  <a:pt x="0" y="76238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4486278" y="1537919"/>
            <a:ext cx="9315444" cy="9228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606"/>
              </a:lnSpc>
            </a:pPr>
            <a:r>
              <a:rPr lang="en-US" sz="6061" b="1">
                <a:solidFill>
                  <a:srgbClr val="051D40"/>
                </a:solidFill>
                <a:latin typeface="Poppins Bold"/>
                <a:ea typeface="Poppins Bold"/>
                <a:cs typeface="Poppins Bold"/>
                <a:sym typeface="Poppins Bold"/>
              </a:rPr>
              <a:t>PROJECT OBJECTIVES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2622584" y="4569855"/>
            <a:ext cx="5071474" cy="22216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496"/>
              </a:lnSpc>
            </a:pPr>
            <a:r>
              <a:rPr lang="en-US" sz="2497" dirty="0">
                <a:solidFill>
                  <a:srgbClr val="F4F6FC"/>
                </a:solidFill>
                <a:latin typeface="Poppins"/>
                <a:ea typeface="Poppins"/>
                <a:cs typeface="Poppins"/>
                <a:sym typeface="Poppins"/>
              </a:rPr>
              <a:t>To automate airline reservation </a:t>
            </a:r>
            <a:r>
              <a:rPr lang="en-US" sz="2497" dirty="0" err="1">
                <a:solidFill>
                  <a:srgbClr val="F4F6FC"/>
                </a:solidFill>
                <a:latin typeface="Poppins"/>
                <a:ea typeface="Poppins"/>
                <a:cs typeface="Poppins"/>
                <a:sym typeface="Poppins"/>
              </a:rPr>
              <a:t>management.To</a:t>
            </a:r>
            <a:r>
              <a:rPr lang="en-US" sz="2497" dirty="0">
                <a:solidFill>
                  <a:srgbClr val="F4F6FC"/>
                </a:solidFill>
                <a:latin typeface="Poppins"/>
                <a:ea typeface="Poppins"/>
                <a:cs typeface="Poppins"/>
                <a:sym typeface="Poppins"/>
              </a:rPr>
              <a:t> generate unique PNR numbers for </a:t>
            </a:r>
            <a:r>
              <a:rPr lang="en-US" sz="2497" dirty="0" err="1">
                <a:solidFill>
                  <a:srgbClr val="F4F6FC"/>
                </a:solidFill>
                <a:latin typeface="Poppins"/>
                <a:ea typeface="Poppins"/>
                <a:cs typeface="Poppins"/>
                <a:sym typeface="Poppins"/>
              </a:rPr>
              <a:t>bookings.To</a:t>
            </a:r>
            <a:r>
              <a:rPr lang="en-US" sz="2497" dirty="0">
                <a:solidFill>
                  <a:srgbClr val="F4F6FC"/>
                </a:solidFill>
                <a:latin typeface="Poppins"/>
                <a:ea typeface="Poppins"/>
                <a:cs typeface="Poppins"/>
                <a:sym typeface="Poppins"/>
              </a:rPr>
              <a:t> manage aircraft and seat allocation efficiently.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593942" y="4569855"/>
            <a:ext cx="5071474" cy="17727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496"/>
              </a:lnSpc>
            </a:pPr>
            <a:r>
              <a:rPr lang="en-US" sz="2497" dirty="0">
                <a:solidFill>
                  <a:srgbClr val="F4F6FC"/>
                </a:solidFill>
                <a:latin typeface="Poppins"/>
                <a:ea typeface="Poppins"/>
                <a:cs typeface="Poppins"/>
                <a:sym typeface="Poppins"/>
              </a:rPr>
              <a:t>To provide quick passenger search using </a:t>
            </a:r>
            <a:r>
              <a:rPr lang="en-US" sz="2497" dirty="0" err="1">
                <a:solidFill>
                  <a:srgbClr val="F4F6FC"/>
                </a:solidFill>
                <a:latin typeface="Poppins"/>
                <a:ea typeface="Poppins"/>
                <a:cs typeface="Poppins"/>
                <a:sym typeface="Poppins"/>
              </a:rPr>
              <a:t>PNR.To</a:t>
            </a:r>
            <a:r>
              <a:rPr lang="en-US" sz="2497" dirty="0">
                <a:solidFill>
                  <a:srgbClr val="F4F6FC"/>
                </a:solidFill>
                <a:latin typeface="Poppins"/>
                <a:ea typeface="Poppins"/>
                <a:cs typeface="Poppins"/>
                <a:sym typeface="Poppins"/>
              </a:rPr>
              <a:t> generate QR codes and downloadable boarding passes.</a:t>
            </a:r>
          </a:p>
        </p:txBody>
      </p:sp>
      <p:sp>
        <p:nvSpPr>
          <p:cNvPr id="15" name="Freeform 15"/>
          <p:cNvSpPr/>
          <p:nvPr/>
        </p:nvSpPr>
        <p:spPr>
          <a:xfrm>
            <a:off x="-3762166" y="-798034"/>
            <a:ext cx="11261636" cy="8558844"/>
          </a:xfrm>
          <a:custGeom>
            <a:avLst/>
            <a:gdLst/>
            <a:ahLst/>
            <a:cxnLst/>
            <a:rect l="l" t="t" r="r" b="b"/>
            <a:pathLst>
              <a:path w="11261636" h="8558844">
                <a:moveTo>
                  <a:pt x="0" y="0"/>
                </a:moveTo>
                <a:lnTo>
                  <a:pt x="11261637" y="0"/>
                </a:lnTo>
                <a:lnTo>
                  <a:pt x="11261637" y="8558844"/>
                </a:lnTo>
                <a:lnTo>
                  <a:pt x="0" y="855884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12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16" name="AutoShape 16"/>
          <p:cNvSpPr/>
          <p:nvPr/>
        </p:nvSpPr>
        <p:spPr>
          <a:xfrm>
            <a:off x="4891298" y="2508422"/>
            <a:ext cx="8505403" cy="0"/>
          </a:xfrm>
          <a:prstGeom prst="line">
            <a:avLst/>
          </a:prstGeom>
          <a:ln w="95250" cap="rnd">
            <a:solidFill>
              <a:srgbClr val="051D40"/>
            </a:solidFill>
            <a:prstDash val="solid"/>
            <a:headEnd type="none" w="sm" len="sm"/>
            <a:tailEnd type="none" w="sm" len="sm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459C566-D3D7-6E3B-BF8F-B39E240E38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CFEC2F5A-A139-D609-D2FB-CDA5EE2F04B0}"/>
              </a:ext>
            </a:extLst>
          </p:cNvPr>
          <p:cNvGrpSpPr/>
          <p:nvPr/>
        </p:nvGrpSpPr>
        <p:grpSpPr>
          <a:xfrm>
            <a:off x="-3768924" y="6735187"/>
            <a:ext cx="9460517" cy="9460517"/>
            <a:chOff x="0" y="0"/>
            <a:chExt cx="812800" cy="81280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3019A679-7565-EBCA-4C8D-85DD611B5805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769DA304-3F6B-736D-445B-7D51F718AEB0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1D839846-5862-71B1-3690-D661CBFBF6C6}"/>
              </a:ext>
            </a:extLst>
          </p:cNvPr>
          <p:cNvGrpSpPr/>
          <p:nvPr/>
        </p:nvGrpSpPr>
        <p:grpSpPr>
          <a:xfrm>
            <a:off x="377858" y="7663815"/>
            <a:ext cx="5246370" cy="5246370"/>
            <a:chOff x="0" y="0"/>
            <a:chExt cx="812800" cy="812800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4D48E6FA-8886-7F91-614D-4CC90B1F78CC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2"/>
              <a:stretch>
                <a:fillRect t="-24906" b="-24906"/>
              </a:stretch>
            </a:blipFill>
          </p:spPr>
        </p:sp>
      </p:grpSp>
      <p:sp>
        <p:nvSpPr>
          <p:cNvPr id="7" name="Freeform 7">
            <a:extLst>
              <a:ext uri="{FF2B5EF4-FFF2-40B4-BE49-F238E27FC236}">
                <a16:creationId xmlns:a16="http://schemas.microsoft.com/office/drawing/2014/main" id="{C78B957D-9C3B-52C2-CCD9-8D6D14036746}"/>
              </a:ext>
            </a:extLst>
          </p:cNvPr>
          <p:cNvSpPr/>
          <p:nvPr/>
        </p:nvSpPr>
        <p:spPr>
          <a:xfrm rot="-1368171">
            <a:off x="8990179" y="3362764"/>
            <a:ext cx="8325708" cy="7947266"/>
          </a:xfrm>
          <a:custGeom>
            <a:avLst/>
            <a:gdLst/>
            <a:ahLst/>
            <a:cxnLst/>
            <a:rect l="l" t="t" r="r" b="b"/>
            <a:pathLst>
              <a:path w="8325708" h="7947266">
                <a:moveTo>
                  <a:pt x="0" y="0"/>
                </a:moveTo>
                <a:lnTo>
                  <a:pt x="8325708" y="0"/>
                </a:lnTo>
                <a:lnTo>
                  <a:pt x="8325708" y="7947266"/>
                </a:lnTo>
                <a:lnTo>
                  <a:pt x="0" y="794726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8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8" name="Group 8">
            <a:extLst>
              <a:ext uri="{FF2B5EF4-FFF2-40B4-BE49-F238E27FC236}">
                <a16:creationId xmlns:a16="http://schemas.microsoft.com/office/drawing/2014/main" id="{3123E6A0-4573-CA7D-81C3-6C0548A7E95D}"/>
              </a:ext>
            </a:extLst>
          </p:cNvPr>
          <p:cNvGrpSpPr/>
          <p:nvPr/>
        </p:nvGrpSpPr>
        <p:grpSpPr>
          <a:xfrm>
            <a:off x="12596407" y="-5908704"/>
            <a:ext cx="9460517" cy="9460517"/>
            <a:chOff x="0" y="0"/>
            <a:chExt cx="812800" cy="812800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B2130600-71D6-F664-E457-A96F5811F45D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BED6A54B-E2BD-D556-CCCC-1A73D7F4951B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1" name="Group 11">
            <a:extLst>
              <a:ext uri="{FF2B5EF4-FFF2-40B4-BE49-F238E27FC236}">
                <a16:creationId xmlns:a16="http://schemas.microsoft.com/office/drawing/2014/main" id="{9D6AE880-28AD-E94E-0BD0-40203C441E25}"/>
              </a:ext>
            </a:extLst>
          </p:cNvPr>
          <p:cNvGrpSpPr/>
          <p:nvPr/>
        </p:nvGrpSpPr>
        <p:grpSpPr>
          <a:xfrm>
            <a:off x="12663772" y="-2623185"/>
            <a:ext cx="5246370" cy="5246370"/>
            <a:chOff x="0" y="0"/>
            <a:chExt cx="812800" cy="812800"/>
          </a:xfrm>
        </p:grpSpPr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47CE4584-E75C-4B53-49BF-6036717FF31A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4"/>
              <a:stretch>
                <a:fillRect b="-50093"/>
              </a:stretch>
            </a:blipFill>
          </p:spPr>
        </p:sp>
      </p:grpSp>
      <p:sp>
        <p:nvSpPr>
          <p:cNvPr id="13" name="Freeform 13">
            <a:extLst>
              <a:ext uri="{FF2B5EF4-FFF2-40B4-BE49-F238E27FC236}">
                <a16:creationId xmlns:a16="http://schemas.microsoft.com/office/drawing/2014/main" id="{E6F851AD-EFD0-7823-5BAB-FCFAF5768567}"/>
              </a:ext>
            </a:extLst>
          </p:cNvPr>
          <p:cNvSpPr/>
          <p:nvPr/>
        </p:nvSpPr>
        <p:spPr>
          <a:xfrm>
            <a:off x="16697199" y="1028700"/>
            <a:ext cx="5359726" cy="4755538"/>
          </a:xfrm>
          <a:custGeom>
            <a:avLst/>
            <a:gdLst/>
            <a:ahLst/>
            <a:cxnLst/>
            <a:rect l="l" t="t" r="r" b="b"/>
            <a:pathLst>
              <a:path w="5359726" h="4755538">
                <a:moveTo>
                  <a:pt x="0" y="0"/>
                </a:moveTo>
                <a:lnTo>
                  <a:pt x="5359725" y="0"/>
                </a:lnTo>
                <a:lnTo>
                  <a:pt x="5359725" y="4755538"/>
                </a:lnTo>
                <a:lnTo>
                  <a:pt x="0" y="475553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14">
            <a:extLst>
              <a:ext uri="{FF2B5EF4-FFF2-40B4-BE49-F238E27FC236}">
                <a16:creationId xmlns:a16="http://schemas.microsoft.com/office/drawing/2014/main" id="{38B98594-F91E-329B-F70B-A9A5DC4E8ABC}"/>
              </a:ext>
            </a:extLst>
          </p:cNvPr>
          <p:cNvSpPr/>
          <p:nvPr/>
        </p:nvSpPr>
        <p:spPr>
          <a:xfrm>
            <a:off x="-3768924" y="6446453"/>
            <a:ext cx="5359726" cy="4755538"/>
          </a:xfrm>
          <a:custGeom>
            <a:avLst/>
            <a:gdLst/>
            <a:ahLst/>
            <a:cxnLst/>
            <a:rect l="l" t="t" r="r" b="b"/>
            <a:pathLst>
              <a:path w="5359726" h="4755538">
                <a:moveTo>
                  <a:pt x="0" y="0"/>
                </a:moveTo>
                <a:lnTo>
                  <a:pt x="5359725" y="0"/>
                </a:lnTo>
                <a:lnTo>
                  <a:pt x="5359725" y="4755538"/>
                </a:lnTo>
                <a:lnTo>
                  <a:pt x="0" y="475553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12F2CE3B-6BE8-CAEA-93C1-57028AE2C415}"/>
              </a:ext>
            </a:extLst>
          </p:cNvPr>
          <p:cNvSpPr txBox="1"/>
          <p:nvPr/>
        </p:nvSpPr>
        <p:spPr>
          <a:xfrm>
            <a:off x="-248762" y="229089"/>
            <a:ext cx="6111420" cy="25451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606"/>
              </a:lnSpc>
            </a:pPr>
            <a:r>
              <a:rPr lang="en-US" sz="6061" b="1" dirty="0">
                <a:solidFill>
                  <a:srgbClr val="051D40"/>
                </a:solidFill>
                <a:latin typeface="Poppins Bold"/>
                <a:ea typeface="Poppins Bold"/>
                <a:cs typeface="Poppins Bold"/>
                <a:sym typeface="Poppins Bold"/>
              </a:rPr>
              <a:t>System Architecture</a:t>
            </a:r>
          </a:p>
          <a:p>
            <a:pPr algn="ctr">
              <a:lnSpc>
                <a:spcPts val="6606"/>
              </a:lnSpc>
            </a:pPr>
            <a:endParaRPr lang="en-US" sz="6061" b="1" dirty="0">
              <a:solidFill>
                <a:srgbClr val="051D40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6F87CD46-D71C-9180-76EC-95D7FDEF3E2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21252" y="231330"/>
            <a:ext cx="7151291" cy="9867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85272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368171">
            <a:off x="2537321" y="2532154"/>
            <a:ext cx="8325708" cy="7947266"/>
          </a:xfrm>
          <a:custGeom>
            <a:avLst/>
            <a:gdLst/>
            <a:ahLst/>
            <a:cxnLst/>
            <a:rect l="l" t="t" r="r" b="b"/>
            <a:pathLst>
              <a:path w="8325708" h="7947266">
                <a:moveTo>
                  <a:pt x="0" y="0"/>
                </a:moveTo>
                <a:lnTo>
                  <a:pt x="8325707" y="0"/>
                </a:lnTo>
                <a:lnTo>
                  <a:pt x="8325707" y="7947267"/>
                </a:lnTo>
                <a:lnTo>
                  <a:pt x="0" y="794726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8999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1895557" y="251870"/>
            <a:ext cx="6164476" cy="9783260"/>
            <a:chOff x="0" y="0"/>
            <a:chExt cx="512149" cy="8128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512149" cy="812800"/>
            </a:xfrm>
            <a:custGeom>
              <a:avLst/>
              <a:gdLst/>
              <a:ahLst/>
              <a:cxnLst/>
              <a:rect l="l" t="t" r="r" b="b"/>
              <a:pathLst>
                <a:path w="512149" h="812800">
                  <a:moveTo>
                    <a:pt x="89168" y="0"/>
                  </a:moveTo>
                  <a:lnTo>
                    <a:pt x="422981" y="0"/>
                  </a:lnTo>
                  <a:cubicBezTo>
                    <a:pt x="446629" y="0"/>
                    <a:pt x="469310" y="9394"/>
                    <a:pt x="486032" y="26117"/>
                  </a:cubicBezTo>
                  <a:cubicBezTo>
                    <a:pt x="502754" y="42839"/>
                    <a:pt x="512149" y="65519"/>
                    <a:pt x="512149" y="89168"/>
                  </a:cubicBezTo>
                  <a:lnTo>
                    <a:pt x="512149" y="723632"/>
                  </a:lnTo>
                  <a:cubicBezTo>
                    <a:pt x="512149" y="747281"/>
                    <a:pt x="502754" y="769961"/>
                    <a:pt x="486032" y="786683"/>
                  </a:cubicBezTo>
                  <a:cubicBezTo>
                    <a:pt x="469310" y="803406"/>
                    <a:pt x="446629" y="812800"/>
                    <a:pt x="422981" y="812800"/>
                  </a:cubicBezTo>
                  <a:lnTo>
                    <a:pt x="89168" y="812800"/>
                  </a:lnTo>
                  <a:cubicBezTo>
                    <a:pt x="65519" y="812800"/>
                    <a:pt x="42839" y="803406"/>
                    <a:pt x="26117" y="786683"/>
                  </a:cubicBezTo>
                  <a:cubicBezTo>
                    <a:pt x="9394" y="769961"/>
                    <a:pt x="0" y="747281"/>
                    <a:pt x="0" y="723632"/>
                  </a:cubicBezTo>
                  <a:lnTo>
                    <a:pt x="0" y="89168"/>
                  </a:lnTo>
                  <a:cubicBezTo>
                    <a:pt x="0" y="65519"/>
                    <a:pt x="9394" y="42839"/>
                    <a:pt x="26117" y="26117"/>
                  </a:cubicBezTo>
                  <a:cubicBezTo>
                    <a:pt x="42839" y="9394"/>
                    <a:pt x="65519" y="0"/>
                    <a:pt x="89168" y="0"/>
                  </a:cubicBezTo>
                  <a:close/>
                </a:path>
              </a:pathLst>
            </a:custGeom>
            <a:blipFill>
              <a:blip r:embed="rId3"/>
              <a:stretch>
                <a:fillRect l="-69102" r="-69102"/>
              </a:stretch>
            </a:blipFill>
          </p:spPr>
        </p:sp>
      </p:grpSp>
      <p:sp>
        <p:nvSpPr>
          <p:cNvPr id="5" name="Freeform 5"/>
          <p:cNvSpPr/>
          <p:nvPr/>
        </p:nvSpPr>
        <p:spPr>
          <a:xfrm rot="5400000">
            <a:off x="-4752727" y="3955733"/>
            <a:ext cx="10536641" cy="2375534"/>
          </a:xfrm>
          <a:custGeom>
            <a:avLst/>
            <a:gdLst/>
            <a:ahLst/>
            <a:cxnLst/>
            <a:rect l="l" t="t" r="r" b="b"/>
            <a:pathLst>
              <a:path w="10536641" h="2375534">
                <a:moveTo>
                  <a:pt x="0" y="0"/>
                </a:moveTo>
                <a:lnTo>
                  <a:pt x="10536642" y="0"/>
                </a:lnTo>
                <a:lnTo>
                  <a:pt x="10536642" y="2375534"/>
                </a:lnTo>
                <a:lnTo>
                  <a:pt x="0" y="237553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6" name="Group 6"/>
          <p:cNvGrpSpPr/>
          <p:nvPr/>
        </p:nvGrpSpPr>
        <p:grpSpPr>
          <a:xfrm>
            <a:off x="873971" y="3696700"/>
            <a:ext cx="5039258" cy="5028200"/>
            <a:chOff x="0" y="0"/>
            <a:chExt cx="810637" cy="479393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0637" cy="479393"/>
            </a:xfrm>
            <a:custGeom>
              <a:avLst/>
              <a:gdLst/>
              <a:ahLst/>
              <a:cxnLst/>
              <a:rect l="l" t="t" r="r" b="b"/>
              <a:pathLst>
                <a:path w="810637" h="479393">
                  <a:moveTo>
                    <a:pt x="25953" y="0"/>
                  </a:moveTo>
                  <a:lnTo>
                    <a:pt x="784684" y="0"/>
                  </a:lnTo>
                  <a:cubicBezTo>
                    <a:pt x="791567" y="0"/>
                    <a:pt x="798168" y="2734"/>
                    <a:pt x="803036" y="7602"/>
                  </a:cubicBezTo>
                  <a:cubicBezTo>
                    <a:pt x="807903" y="12469"/>
                    <a:pt x="810637" y="19070"/>
                    <a:pt x="810637" y="25953"/>
                  </a:cubicBezTo>
                  <a:lnTo>
                    <a:pt x="810637" y="453440"/>
                  </a:lnTo>
                  <a:cubicBezTo>
                    <a:pt x="810637" y="460323"/>
                    <a:pt x="807903" y="466925"/>
                    <a:pt x="803036" y="471792"/>
                  </a:cubicBezTo>
                  <a:cubicBezTo>
                    <a:pt x="798168" y="476659"/>
                    <a:pt x="791567" y="479393"/>
                    <a:pt x="784684" y="479393"/>
                  </a:cubicBezTo>
                  <a:lnTo>
                    <a:pt x="25953" y="479393"/>
                  </a:lnTo>
                  <a:cubicBezTo>
                    <a:pt x="19070" y="479393"/>
                    <a:pt x="12469" y="476659"/>
                    <a:pt x="7602" y="471792"/>
                  </a:cubicBezTo>
                  <a:cubicBezTo>
                    <a:pt x="2734" y="466925"/>
                    <a:pt x="0" y="460323"/>
                    <a:pt x="0" y="453440"/>
                  </a:cubicBezTo>
                  <a:lnTo>
                    <a:pt x="0" y="25953"/>
                  </a:lnTo>
                  <a:cubicBezTo>
                    <a:pt x="0" y="19070"/>
                    <a:pt x="2734" y="12469"/>
                    <a:pt x="7602" y="7602"/>
                  </a:cubicBezTo>
                  <a:cubicBezTo>
                    <a:pt x="12469" y="2734"/>
                    <a:pt x="19070" y="0"/>
                    <a:pt x="25953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810637" cy="5174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7338851" y="5419446"/>
            <a:ext cx="6674043" cy="3719323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659"/>
              </a:lnSpc>
            </a:pPr>
            <a:endParaRPr/>
          </a:p>
        </p:txBody>
      </p:sp>
      <p:sp>
        <p:nvSpPr>
          <p:cNvPr id="12" name="Freeform 12"/>
          <p:cNvSpPr/>
          <p:nvPr/>
        </p:nvSpPr>
        <p:spPr>
          <a:xfrm>
            <a:off x="15741242" y="8229600"/>
            <a:ext cx="4637582" cy="4114800"/>
          </a:xfrm>
          <a:custGeom>
            <a:avLst/>
            <a:gdLst/>
            <a:ahLst/>
            <a:cxnLst/>
            <a:rect l="l" t="t" r="r" b="b"/>
            <a:pathLst>
              <a:path w="4637582" h="4114800">
                <a:moveTo>
                  <a:pt x="0" y="0"/>
                </a:moveTo>
                <a:lnTo>
                  <a:pt x="4637582" y="0"/>
                </a:lnTo>
                <a:lnTo>
                  <a:pt x="463758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11103660" y="-2865691"/>
            <a:ext cx="4637582" cy="4114800"/>
          </a:xfrm>
          <a:custGeom>
            <a:avLst/>
            <a:gdLst/>
            <a:ahLst/>
            <a:cxnLst/>
            <a:rect l="l" t="t" r="r" b="b"/>
            <a:pathLst>
              <a:path w="4637582" h="4114800">
                <a:moveTo>
                  <a:pt x="0" y="0"/>
                </a:moveTo>
                <a:lnTo>
                  <a:pt x="4637582" y="0"/>
                </a:lnTo>
                <a:lnTo>
                  <a:pt x="463758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4" name="TextBox 14"/>
          <p:cNvSpPr txBox="1"/>
          <p:nvPr/>
        </p:nvSpPr>
        <p:spPr>
          <a:xfrm>
            <a:off x="1227431" y="1172909"/>
            <a:ext cx="6111420" cy="16987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6606"/>
              </a:lnSpc>
            </a:pPr>
            <a:r>
              <a:rPr lang="en-US" sz="6061" b="1" dirty="0">
                <a:solidFill>
                  <a:srgbClr val="051D40"/>
                </a:solidFill>
                <a:latin typeface="Poppins Bold"/>
                <a:ea typeface="Poppins Bold"/>
                <a:cs typeface="Poppins Bold"/>
                <a:sym typeface="Poppins Bold"/>
              </a:rPr>
              <a:t>Technologies Used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E3A4A4B-CAF5-08D6-D115-1CD3C596E967}"/>
              </a:ext>
            </a:extLst>
          </p:cNvPr>
          <p:cNvSpPr txBox="1"/>
          <p:nvPr/>
        </p:nvSpPr>
        <p:spPr>
          <a:xfrm>
            <a:off x="1360079" y="4025831"/>
            <a:ext cx="10528852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dirty="0">
                <a:solidFill>
                  <a:schemeClr val="bg1"/>
                </a:solidFill>
              </a:rPr>
              <a:t>Frontend</a:t>
            </a:r>
          </a:p>
          <a:p>
            <a:r>
              <a:rPr lang="en-IN" sz="2000" dirty="0">
                <a:solidFill>
                  <a:schemeClr val="bg1"/>
                </a:solidFill>
              </a:rPr>
              <a:t>React.js</a:t>
            </a:r>
          </a:p>
          <a:p>
            <a:r>
              <a:rPr lang="en-IN" sz="2000" dirty="0">
                <a:solidFill>
                  <a:schemeClr val="bg1"/>
                </a:solidFill>
              </a:rPr>
              <a:t>HTML5</a:t>
            </a:r>
          </a:p>
          <a:p>
            <a:r>
              <a:rPr lang="en-IN" sz="2000" dirty="0">
                <a:solidFill>
                  <a:schemeClr val="bg1"/>
                </a:solidFill>
              </a:rPr>
              <a:t>CSS3</a:t>
            </a:r>
          </a:p>
          <a:p>
            <a:r>
              <a:rPr lang="en-IN" sz="2000" dirty="0">
                <a:solidFill>
                  <a:schemeClr val="bg1"/>
                </a:solidFill>
              </a:rPr>
              <a:t>JavaScript</a:t>
            </a:r>
          </a:p>
          <a:p>
            <a:r>
              <a:rPr lang="en-IN" sz="2000" dirty="0">
                <a:solidFill>
                  <a:schemeClr val="bg1"/>
                </a:solidFill>
              </a:rPr>
              <a:t>Backend</a:t>
            </a:r>
          </a:p>
          <a:p>
            <a:r>
              <a:rPr lang="en-IN" sz="2000" dirty="0">
                <a:solidFill>
                  <a:schemeClr val="bg1"/>
                </a:solidFill>
              </a:rPr>
              <a:t>Node.js</a:t>
            </a:r>
          </a:p>
          <a:p>
            <a:r>
              <a:rPr lang="en-IN" sz="2000" dirty="0">
                <a:solidFill>
                  <a:schemeClr val="bg1"/>
                </a:solidFill>
              </a:rPr>
              <a:t>Express.js</a:t>
            </a:r>
          </a:p>
          <a:p>
            <a:r>
              <a:rPr lang="en-IN" sz="2000" dirty="0">
                <a:solidFill>
                  <a:schemeClr val="bg1"/>
                </a:solidFill>
              </a:rPr>
              <a:t>Database</a:t>
            </a:r>
          </a:p>
          <a:p>
            <a:r>
              <a:rPr lang="en-IN" sz="2000" dirty="0">
                <a:solidFill>
                  <a:schemeClr val="bg1"/>
                </a:solidFill>
              </a:rPr>
              <a:t>MongoDB / MySQL</a:t>
            </a:r>
          </a:p>
          <a:p>
            <a:r>
              <a:rPr lang="en-IN" sz="2000" dirty="0">
                <a:solidFill>
                  <a:schemeClr val="bg1"/>
                </a:solidFill>
              </a:rPr>
              <a:t>Additional Libraries</a:t>
            </a:r>
          </a:p>
          <a:p>
            <a:r>
              <a:rPr lang="en-IN" sz="2000" dirty="0">
                <a:solidFill>
                  <a:schemeClr val="bg1"/>
                </a:solidFill>
              </a:rPr>
              <a:t>Axios</a:t>
            </a:r>
          </a:p>
          <a:p>
            <a:r>
              <a:rPr lang="en-IN" sz="2000" dirty="0">
                <a:solidFill>
                  <a:schemeClr val="bg1"/>
                </a:solidFill>
              </a:rPr>
              <a:t>QR Code Generator</a:t>
            </a:r>
          </a:p>
          <a:p>
            <a:r>
              <a:rPr lang="en-IN" sz="2000" dirty="0" err="1">
                <a:solidFill>
                  <a:schemeClr val="bg1"/>
                </a:solidFill>
              </a:rPr>
              <a:t>jsPDF</a:t>
            </a:r>
            <a:endParaRPr lang="en-IN" sz="20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665697" y="-1448895"/>
            <a:ext cx="15595244" cy="13049701"/>
            <a:chOff x="-234749" y="0"/>
            <a:chExt cx="971349" cy="812800"/>
          </a:xfrm>
        </p:grpSpPr>
        <p:sp>
          <p:nvSpPr>
            <p:cNvPr id="3" name="Freeform 3"/>
            <p:cNvSpPr/>
            <p:nvPr/>
          </p:nvSpPr>
          <p:spPr>
            <a:xfrm>
              <a:off x="-234749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-1827021" y="9123210"/>
            <a:ext cx="6417718" cy="6417718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2046107" y="-5389018"/>
            <a:ext cx="6417718" cy="6417718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2" name="Freeform 12"/>
          <p:cNvSpPr/>
          <p:nvPr/>
        </p:nvSpPr>
        <p:spPr>
          <a:xfrm>
            <a:off x="15491069" y="4390701"/>
            <a:ext cx="8713606" cy="7731345"/>
          </a:xfrm>
          <a:custGeom>
            <a:avLst/>
            <a:gdLst/>
            <a:ahLst/>
            <a:cxnLst/>
            <a:rect l="l" t="t" r="r" b="b"/>
            <a:pathLst>
              <a:path w="8713606" h="7731345">
                <a:moveTo>
                  <a:pt x="0" y="0"/>
                </a:moveTo>
                <a:lnTo>
                  <a:pt x="8713606" y="0"/>
                </a:lnTo>
                <a:lnTo>
                  <a:pt x="8713606" y="7731345"/>
                </a:lnTo>
                <a:lnTo>
                  <a:pt x="0" y="773134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46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7626508" y="-4569506"/>
            <a:ext cx="6094860" cy="5407803"/>
          </a:xfrm>
          <a:custGeom>
            <a:avLst/>
            <a:gdLst/>
            <a:ahLst/>
            <a:cxnLst/>
            <a:rect l="l" t="t" r="r" b="b"/>
            <a:pathLst>
              <a:path w="6094860" h="5407803">
                <a:moveTo>
                  <a:pt x="0" y="0"/>
                </a:moveTo>
                <a:lnTo>
                  <a:pt x="6094860" y="0"/>
                </a:lnTo>
                <a:lnTo>
                  <a:pt x="6094860" y="5407803"/>
                </a:lnTo>
                <a:lnTo>
                  <a:pt x="0" y="540780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46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-4048753" y="6554399"/>
            <a:ext cx="6094860" cy="5407803"/>
          </a:xfrm>
          <a:custGeom>
            <a:avLst/>
            <a:gdLst/>
            <a:ahLst/>
            <a:cxnLst/>
            <a:rect l="l" t="t" r="r" b="b"/>
            <a:pathLst>
              <a:path w="6094860" h="5407803">
                <a:moveTo>
                  <a:pt x="0" y="0"/>
                </a:moveTo>
                <a:lnTo>
                  <a:pt x="6094860" y="0"/>
                </a:lnTo>
                <a:lnTo>
                  <a:pt x="6094860" y="5407802"/>
                </a:lnTo>
                <a:lnTo>
                  <a:pt x="0" y="540780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46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15" name="TextBox 15"/>
          <p:cNvSpPr txBox="1"/>
          <p:nvPr/>
        </p:nvSpPr>
        <p:spPr>
          <a:xfrm>
            <a:off x="4724400" y="240676"/>
            <a:ext cx="7919132" cy="85241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6606"/>
              </a:lnSpc>
            </a:pPr>
            <a:r>
              <a:rPr lang="en-US" sz="6061" b="1" dirty="0">
                <a:solidFill>
                  <a:srgbClr val="F4F6FC"/>
                </a:solidFill>
                <a:latin typeface="Poppins Bold"/>
                <a:ea typeface="Poppins Bold"/>
                <a:cs typeface="Poppins Bold"/>
                <a:sym typeface="Poppins Bold"/>
              </a:rPr>
              <a:t> Major Modules:</a:t>
            </a:r>
          </a:p>
        </p:txBody>
      </p:sp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45FD6698-4B03-AF9C-2445-6B7722A0B1D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36019924"/>
              </p:ext>
            </p:extLst>
          </p:nvPr>
        </p:nvGraphicFramePr>
        <p:xfrm>
          <a:off x="3809998" y="1600200"/>
          <a:ext cx="11075144" cy="7417672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2575050">
                  <a:extLst>
                    <a:ext uri="{9D8B030D-6E8A-4147-A177-3AD203B41FA5}">
                      <a16:colId xmlns:a16="http://schemas.microsoft.com/office/drawing/2014/main" val="3887806570"/>
                    </a:ext>
                  </a:extLst>
                </a:gridCol>
                <a:gridCol w="8500094">
                  <a:extLst>
                    <a:ext uri="{9D8B030D-6E8A-4147-A177-3AD203B41FA5}">
                      <a16:colId xmlns:a16="http://schemas.microsoft.com/office/drawing/2014/main" val="2327252649"/>
                    </a:ext>
                  </a:extLst>
                </a:gridCol>
              </a:tblGrid>
              <a:tr h="1331396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bg1"/>
                          </a:solidFill>
                        </a:rPr>
                        <a:t>CO1</a:t>
                      </a:r>
                      <a:endParaRPr lang="en-IN" sz="240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bg1"/>
                          </a:solidFill>
                        </a:rPr>
                        <a:t>Frontend Architecture &amp; UI </a:t>
                      </a:r>
                      <a:r>
                        <a:rPr lang="en-US" sz="2400" dirty="0" err="1">
                          <a:solidFill>
                            <a:schemeClr val="bg1"/>
                          </a:solidFill>
                        </a:rPr>
                        <a:t>DesignReact</a:t>
                      </a:r>
                      <a:r>
                        <a:rPr lang="en-US" sz="2400" dirty="0">
                          <a:solidFill>
                            <a:schemeClr val="bg1"/>
                          </a:solidFill>
                        </a:rPr>
                        <a:t> Frontend </a:t>
                      </a:r>
                      <a:r>
                        <a:rPr lang="en-US" sz="2400" dirty="0" err="1">
                          <a:solidFill>
                            <a:schemeClr val="bg1"/>
                          </a:solidFill>
                        </a:rPr>
                        <a:t>ArchitectureComponent</a:t>
                      </a:r>
                      <a:r>
                        <a:rPr lang="en-US" sz="2400" dirty="0">
                          <a:solidFill>
                            <a:schemeClr val="bg1"/>
                          </a:solidFill>
                        </a:rPr>
                        <a:t>-Based UI </a:t>
                      </a:r>
                      <a:r>
                        <a:rPr lang="en-US" sz="2400" dirty="0" err="1">
                          <a:solidFill>
                            <a:schemeClr val="bg1"/>
                          </a:solidFill>
                        </a:rPr>
                        <a:t>DesignDashboard</a:t>
                      </a:r>
                      <a:r>
                        <a:rPr lang="en-US" sz="2400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sz="2400" dirty="0" err="1">
                          <a:solidFill>
                            <a:schemeClr val="bg1"/>
                          </a:solidFill>
                        </a:rPr>
                        <a:t>LayoutResponsive</a:t>
                      </a:r>
                      <a:r>
                        <a:rPr lang="en-US" sz="2400" dirty="0">
                          <a:solidFill>
                            <a:schemeClr val="bg1"/>
                          </a:solidFill>
                        </a:rPr>
                        <a:t> User Interface</a:t>
                      </a:r>
                      <a:endParaRPr lang="en-IN" sz="240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269052"/>
                  </a:ext>
                </a:extLst>
              </a:tr>
              <a:tr h="1020528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bg1"/>
                          </a:solidFill>
                        </a:rPr>
                        <a:t>CO2</a:t>
                      </a:r>
                      <a:endParaRPr lang="en-IN" sz="240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bg1"/>
                          </a:solidFill>
                        </a:rPr>
                        <a:t>JavaScript &amp; Component </a:t>
                      </a:r>
                      <a:r>
                        <a:rPr lang="en-US" sz="2400" dirty="0" err="1">
                          <a:solidFill>
                            <a:schemeClr val="bg1"/>
                          </a:solidFill>
                        </a:rPr>
                        <a:t>DevelopmentJavaScript</a:t>
                      </a:r>
                      <a:r>
                        <a:rPr lang="en-US" sz="2400" dirty="0">
                          <a:solidFill>
                            <a:schemeClr val="bg1"/>
                          </a:solidFill>
                        </a:rPr>
                        <a:t> (ES6+)</a:t>
                      </a:r>
                      <a:r>
                        <a:rPr lang="en-US" sz="2400" dirty="0" err="1">
                          <a:solidFill>
                            <a:schemeClr val="bg1"/>
                          </a:solidFill>
                        </a:rPr>
                        <a:t>TypeScriptModular</a:t>
                      </a:r>
                      <a:r>
                        <a:rPr lang="en-US" sz="2400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sz="2400" dirty="0" err="1">
                          <a:solidFill>
                            <a:schemeClr val="bg1"/>
                          </a:solidFill>
                        </a:rPr>
                        <a:t>ComponentsAsync</a:t>
                      </a:r>
                      <a:r>
                        <a:rPr lang="en-US" sz="2400" dirty="0">
                          <a:solidFill>
                            <a:schemeClr val="bg1"/>
                          </a:solidFill>
                        </a:rPr>
                        <a:t> API </a:t>
                      </a:r>
                      <a:r>
                        <a:rPr lang="en-US" sz="2400" dirty="0" err="1">
                          <a:solidFill>
                            <a:schemeClr val="bg1"/>
                          </a:solidFill>
                        </a:rPr>
                        <a:t>CallsForm</a:t>
                      </a:r>
                      <a:r>
                        <a:rPr lang="en-US" sz="2400" dirty="0">
                          <a:solidFill>
                            <a:schemeClr val="bg1"/>
                          </a:solidFill>
                        </a:rPr>
                        <a:t> Handling</a:t>
                      </a:r>
                      <a:endParaRPr lang="en-IN" sz="240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85003552"/>
                  </a:ext>
                </a:extLst>
              </a:tr>
              <a:tr h="1331396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bg1"/>
                          </a:solidFill>
                        </a:rPr>
                        <a:t>CO3</a:t>
                      </a:r>
                      <a:endParaRPr lang="en-IN" sz="240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bg1"/>
                          </a:solidFill>
                        </a:rPr>
                        <a:t>React Components &amp; State </a:t>
                      </a:r>
                      <a:r>
                        <a:rPr lang="en-US" sz="2400" dirty="0" err="1">
                          <a:solidFill>
                            <a:schemeClr val="bg1"/>
                          </a:solidFill>
                        </a:rPr>
                        <a:t>ManagementReact</a:t>
                      </a:r>
                      <a:r>
                        <a:rPr lang="en-US" sz="2400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sz="2400" dirty="0" err="1">
                          <a:solidFill>
                            <a:schemeClr val="bg1"/>
                          </a:solidFill>
                        </a:rPr>
                        <a:t>ComponentsProps</a:t>
                      </a:r>
                      <a:r>
                        <a:rPr lang="en-US" sz="2400" dirty="0">
                          <a:solidFill>
                            <a:schemeClr val="bg1"/>
                          </a:solidFill>
                        </a:rPr>
                        <a:t> &amp; State </a:t>
                      </a:r>
                      <a:r>
                        <a:rPr lang="en-US" sz="2400" dirty="0" err="1">
                          <a:solidFill>
                            <a:schemeClr val="bg1"/>
                          </a:solidFill>
                        </a:rPr>
                        <a:t>ManagementLogin</a:t>
                      </a:r>
                      <a:r>
                        <a:rPr lang="en-US" sz="2400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sz="2400" dirty="0" err="1">
                          <a:solidFill>
                            <a:schemeClr val="bg1"/>
                          </a:solidFill>
                        </a:rPr>
                        <a:t>ComponentPassenger</a:t>
                      </a:r>
                      <a:r>
                        <a:rPr lang="en-US" sz="2400" dirty="0">
                          <a:solidFill>
                            <a:schemeClr val="bg1"/>
                          </a:solidFill>
                        </a:rPr>
                        <a:t> Registry </a:t>
                      </a:r>
                      <a:r>
                        <a:rPr lang="en-US" sz="2400" dirty="0" err="1">
                          <a:solidFill>
                            <a:schemeClr val="bg1"/>
                          </a:solidFill>
                        </a:rPr>
                        <a:t>ComponentPNR</a:t>
                      </a:r>
                      <a:r>
                        <a:rPr lang="en-US" sz="2400" dirty="0">
                          <a:solidFill>
                            <a:schemeClr val="bg1"/>
                          </a:solidFill>
                        </a:rPr>
                        <a:t> Search Component</a:t>
                      </a:r>
                      <a:endParaRPr lang="en-IN" sz="240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8826408"/>
                  </a:ext>
                </a:extLst>
              </a:tr>
              <a:tr h="1020528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bg1"/>
                          </a:solidFill>
                        </a:rPr>
                        <a:t>CO4</a:t>
                      </a:r>
                      <a:endParaRPr lang="en-IN" sz="240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bg1"/>
                          </a:solidFill>
                        </a:rPr>
                        <a:t> API Integration &amp; </a:t>
                      </a:r>
                      <a:r>
                        <a:rPr lang="en-US" sz="2400" dirty="0" err="1">
                          <a:solidFill>
                            <a:schemeClr val="bg1"/>
                          </a:solidFill>
                        </a:rPr>
                        <a:t>AuthenticationAPI</a:t>
                      </a:r>
                      <a:r>
                        <a:rPr lang="en-US" sz="2400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sz="2400" dirty="0" err="1">
                          <a:solidFill>
                            <a:schemeClr val="bg1"/>
                          </a:solidFill>
                        </a:rPr>
                        <a:t>IntegrationAxios</a:t>
                      </a:r>
                      <a:r>
                        <a:rPr lang="en-US" sz="2400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sz="2400" dirty="0" err="1">
                          <a:solidFill>
                            <a:schemeClr val="bg1"/>
                          </a:solidFill>
                        </a:rPr>
                        <a:t>RequestsAuthentication</a:t>
                      </a:r>
                      <a:r>
                        <a:rPr lang="en-US" sz="2400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sz="2400" dirty="0" err="1">
                          <a:solidFill>
                            <a:schemeClr val="bg1"/>
                          </a:solidFill>
                        </a:rPr>
                        <a:t>FlowDashboard</a:t>
                      </a:r>
                      <a:r>
                        <a:rPr lang="en-US" sz="2400" dirty="0">
                          <a:solidFill>
                            <a:schemeClr val="bg1"/>
                          </a:solidFill>
                        </a:rPr>
                        <a:t> Data </a:t>
                      </a:r>
                      <a:r>
                        <a:rPr lang="en-US" sz="2400" dirty="0" err="1">
                          <a:solidFill>
                            <a:schemeClr val="bg1"/>
                          </a:solidFill>
                        </a:rPr>
                        <a:t>FetchingState</a:t>
                      </a:r>
                      <a:r>
                        <a:rPr lang="en-US" sz="2400" dirty="0">
                          <a:solidFill>
                            <a:schemeClr val="bg1"/>
                          </a:solidFill>
                        </a:rPr>
                        <a:t> Management</a:t>
                      </a:r>
                      <a:endParaRPr lang="en-IN" sz="240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68957808"/>
                  </a:ext>
                </a:extLst>
              </a:tr>
              <a:tr h="1020528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bg1"/>
                          </a:solidFill>
                        </a:rPr>
                        <a:t>CO5</a:t>
                      </a:r>
                      <a:endParaRPr lang="en-IN" sz="240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400" dirty="0">
                          <a:solidFill>
                            <a:schemeClr val="bg1"/>
                          </a:solidFill>
                        </a:rPr>
                        <a:t>Navigation &amp; User </a:t>
                      </a:r>
                      <a:r>
                        <a:rPr lang="en-IN" sz="2400" dirty="0" err="1">
                          <a:solidFill>
                            <a:schemeClr val="bg1"/>
                          </a:solidFill>
                        </a:rPr>
                        <a:t>ExperienceReact</a:t>
                      </a:r>
                      <a:r>
                        <a:rPr lang="en-IN" sz="2400" dirty="0">
                          <a:solidFill>
                            <a:schemeClr val="bg1"/>
                          </a:solidFill>
                        </a:rPr>
                        <a:t> Router </a:t>
                      </a:r>
                      <a:r>
                        <a:rPr lang="en-IN" sz="2400" dirty="0" err="1">
                          <a:solidFill>
                            <a:schemeClr val="bg1"/>
                          </a:solidFill>
                        </a:rPr>
                        <a:t>NavigationLogin</a:t>
                      </a:r>
                      <a:r>
                        <a:rPr lang="en-IN" sz="2400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IN" sz="2400" dirty="0" err="1">
                          <a:solidFill>
                            <a:schemeClr val="bg1"/>
                          </a:solidFill>
                        </a:rPr>
                        <a:t>ValidationPassenger</a:t>
                      </a:r>
                      <a:r>
                        <a:rPr lang="en-IN" sz="2400" dirty="0">
                          <a:solidFill>
                            <a:schemeClr val="bg1"/>
                          </a:solidFill>
                        </a:rPr>
                        <a:t> Registration </a:t>
                      </a:r>
                      <a:r>
                        <a:rPr lang="en-IN" sz="2400" dirty="0" err="1">
                          <a:solidFill>
                            <a:schemeClr val="bg1"/>
                          </a:solidFill>
                        </a:rPr>
                        <a:t>FormsUser</a:t>
                      </a:r>
                      <a:r>
                        <a:rPr lang="en-IN" sz="2400" dirty="0">
                          <a:solidFill>
                            <a:schemeClr val="bg1"/>
                          </a:solidFill>
                        </a:rPr>
                        <a:t>-Friendly </a:t>
                      </a:r>
                      <a:r>
                        <a:rPr lang="en-IN" sz="2400" dirty="0" err="1">
                          <a:solidFill>
                            <a:schemeClr val="bg1"/>
                          </a:solidFill>
                        </a:rPr>
                        <a:t>UIPerformance</a:t>
                      </a:r>
                      <a:r>
                        <a:rPr lang="en-IN" sz="2400" dirty="0">
                          <a:solidFill>
                            <a:schemeClr val="bg1"/>
                          </a:solidFill>
                        </a:rPr>
                        <a:t> Optimization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15729965"/>
                  </a:ext>
                </a:extLst>
              </a:tr>
              <a:tr h="1020528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bg1"/>
                          </a:solidFill>
                        </a:rPr>
                        <a:t>CO6</a:t>
                      </a:r>
                      <a:endParaRPr lang="en-IN" sz="240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400" dirty="0">
                          <a:solidFill>
                            <a:schemeClr val="bg1"/>
                          </a:solidFill>
                        </a:rPr>
                        <a:t>Backend &amp; </a:t>
                      </a:r>
                      <a:r>
                        <a:rPr lang="en-IN" sz="2400" dirty="0" err="1">
                          <a:solidFill>
                            <a:schemeClr val="bg1"/>
                          </a:solidFill>
                        </a:rPr>
                        <a:t>DeploymentVite</a:t>
                      </a:r>
                      <a:r>
                        <a:rPr lang="en-IN" sz="2400" dirty="0">
                          <a:solidFill>
                            <a:schemeClr val="bg1"/>
                          </a:solidFill>
                        </a:rPr>
                        <a:t> Build SystemNode.js </a:t>
                      </a:r>
                      <a:r>
                        <a:rPr lang="en-IN" sz="2400" dirty="0" err="1">
                          <a:solidFill>
                            <a:schemeClr val="bg1"/>
                          </a:solidFill>
                        </a:rPr>
                        <a:t>BackendExpress</a:t>
                      </a:r>
                      <a:r>
                        <a:rPr lang="en-IN" sz="2400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IN" sz="2400" dirty="0" err="1">
                          <a:solidFill>
                            <a:schemeClr val="bg1"/>
                          </a:solidFill>
                        </a:rPr>
                        <a:t>ServerEnvironment</a:t>
                      </a:r>
                      <a:r>
                        <a:rPr lang="en-IN" sz="2400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IN" sz="2400" dirty="0" err="1">
                          <a:solidFill>
                            <a:schemeClr val="bg1"/>
                          </a:solidFill>
                        </a:rPr>
                        <a:t>ConfigurationGitHub</a:t>
                      </a:r>
                      <a:r>
                        <a:rPr lang="en-IN" sz="2400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IN" sz="2400" dirty="0" err="1">
                          <a:solidFill>
                            <a:schemeClr val="bg1"/>
                          </a:solidFill>
                        </a:rPr>
                        <a:t>DeploymentProject</a:t>
                      </a:r>
                      <a:r>
                        <a:rPr lang="en-IN" sz="2400" dirty="0">
                          <a:solidFill>
                            <a:schemeClr val="bg1"/>
                          </a:solidFill>
                        </a:rPr>
                        <a:t> Structure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7601426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712073" y="266700"/>
            <a:ext cx="13722913" cy="13722913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6184300" y="-5129608"/>
            <a:ext cx="7034408" cy="7034408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4433773" y="9062399"/>
            <a:ext cx="5143500" cy="5143500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1" name="Freeform 11"/>
          <p:cNvSpPr/>
          <p:nvPr/>
        </p:nvSpPr>
        <p:spPr>
          <a:xfrm rot="5400000">
            <a:off x="-4685509" y="3955733"/>
            <a:ext cx="10536641" cy="2375534"/>
          </a:xfrm>
          <a:custGeom>
            <a:avLst/>
            <a:gdLst/>
            <a:ahLst/>
            <a:cxnLst/>
            <a:rect l="l" t="t" r="r" b="b"/>
            <a:pathLst>
              <a:path w="10536641" h="2375534">
                <a:moveTo>
                  <a:pt x="0" y="0"/>
                </a:moveTo>
                <a:lnTo>
                  <a:pt x="10536641" y="0"/>
                </a:lnTo>
                <a:lnTo>
                  <a:pt x="10536641" y="2375534"/>
                </a:lnTo>
                <a:lnTo>
                  <a:pt x="0" y="237553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17194118" y="-1612404"/>
            <a:ext cx="5014772" cy="4449470"/>
          </a:xfrm>
          <a:custGeom>
            <a:avLst/>
            <a:gdLst/>
            <a:ahLst/>
            <a:cxnLst/>
            <a:rect l="l" t="t" r="r" b="b"/>
            <a:pathLst>
              <a:path w="5014772" h="4449470">
                <a:moveTo>
                  <a:pt x="0" y="0"/>
                </a:moveTo>
                <a:lnTo>
                  <a:pt x="5014772" y="0"/>
                </a:lnTo>
                <a:lnTo>
                  <a:pt x="5014772" y="4449471"/>
                </a:lnTo>
                <a:lnTo>
                  <a:pt x="0" y="444947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16184300" y="7883197"/>
            <a:ext cx="5014772" cy="4449470"/>
          </a:xfrm>
          <a:custGeom>
            <a:avLst/>
            <a:gdLst/>
            <a:ahLst/>
            <a:cxnLst/>
            <a:rect l="l" t="t" r="r" b="b"/>
            <a:pathLst>
              <a:path w="5014772" h="4449470">
                <a:moveTo>
                  <a:pt x="0" y="0"/>
                </a:moveTo>
                <a:lnTo>
                  <a:pt x="5014772" y="0"/>
                </a:lnTo>
                <a:lnTo>
                  <a:pt x="5014772" y="4449471"/>
                </a:lnTo>
                <a:lnTo>
                  <a:pt x="0" y="444947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11671136" y="3426200"/>
            <a:ext cx="5440240" cy="4114800"/>
          </a:xfrm>
          <a:custGeom>
            <a:avLst/>
            <a:gdLst/>
            <a:ahLst/>
            <a:cxnLst/>
            <a:rect l="l" t="t" r="r" b="b"/>
            <a:pathLst>
              <a:path w="5440240" h="4114800">
                <a:moveTo>
                  <a:pt x="0" y="0"/>
                </a:moveTo>
                <a:lnTo>
                  <a:pt x="5440241" y="0"/>
                </a:lnTo>
                <a:lnTo>
                  <a:pt x="544024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5" name="TextBox 15"/>
          <p:cNvSpPr txBox="1"/>
          <p:nvPr/>
        </p:nvSpPr>
        <p:spPr>
          <a:xfrm>
            <a:off x="10374029" y="1179427"/>
            <a:ext cx="6761187" cy="16987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6606"/>
              </a:lnSpc>
            </a:pPr>
            <a:r>
              <a:rPr lang="en-US" sz="6061" b="1" dirty="0">
                <a:solidFill>
                  <a:srgbClr val="051D40"/>
                </a:solidFill>
                <a:latin typeface="Poppins Bold"/>
                <a:ea typeface="Poppins Bold"/>
                <a:cs typeface="Poppins Bold"/>
                <a:sym typeface="Poppins Bold"/>
              </a:rPr>
              <a:t> Aircraft Management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9453441-D386-4EEB-6523-21351175B3D9}"/>
              </a:ext>
            </a:extLst>
          </p:cNvPr>
          <p:cNvSpPr txBox="1"/>
          <p:nvPr/>
        </p:nvSpPr>
        <p:spPr>
          <a:xfrm>
            <a:off x="990600" y="1904800"/>
            <a:ext cx="15909235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dirty="0">
                <a:solidFill>
                  <a:schemeClr val="bg1"/>
                </a:solidFill>
              </a:rPr>
              <a:t>This module allows administrators to:</a:t>
            </a:r>
            <a:br>
              <a:rPr lang="en-IN" sz="3600" dirty="0">
                <a:solidFill>
                  <a:schemeClr val="bg1"/>
                </a:solidFill>
              </a:rPr>
            </a:br>
            <a:r>
              <a:rPr lang="en-IN" sz="3600" dirty="0">
                <a:solidFill>
                  <a:schemeClr val="bg1"/>
                </a:solidFill>
              </a:rPr>
              <a:t>Add aircraft</a:t>
            </a:r>
            <a:br>
              <a:rPr lang="en-IN" sz="3600" dirty="0">
                <a:solidFill>
                  <a:schemeClr val="bg1"/>
                </a:solidFill>
              </a:rPr>
            </a:br>
            <a:r>
              <a:rPr lang="en-IN" sz="3600" dirty="0">
                <a:solidFill>
                  <a:schemeClr val="bg1"/>
                </a:solidFill>
              </a:rPr>
              <a:t>Edit aircraft</a:t>
            </a:r>
            <a:br>
              <a:rPr lang="en-IN" sz="3600" dirty="0">
                <a:solidFill>
                  <a:schemeClr val="bg1"/>
                </a:solidFill>
              </a:rPr>
            </a:br>
            <a:r>
              <a:rPr lang="en-IN" sz="3600" dirty="0">
                <a:solidFill>
                  <a:schemeClr val="bg1"/>
                </a:solidFill>
              </a:rPr>
              <a:t>Delete aircraft</a:t>
            </a:r>
            <a:br>
              <a:rPr lang="en-IN" sz="3600" dirty="0">
                <a:solidFill>
                  <a:schemeClr val="bg1"/>
                </a:solidFill>
              </a:rPr>
            </a:br>
            <a:r>
              <a:rPr lang="en-IN" sz="3600" dirty="0">
                <a:solidFill>
                  <a:schemeClr val="bg1"/>
                </a:solidFill>
              </a:rPr>
              <a:t>Manage seat capacity</a:t>
            </a:r>
            <a:br>
              <a:rPr lang="en-IN" sz="3600" dirty="0">
                <a:solidFill>
                  <a:schemeClr val="bg1"/>
                </a:solidFill>
              </a:rPr>
            </a:br>
            <a:br>
              <a:rPr lang="en-IN" sz="3600" dirty="0">
                <a:solidFill>
                  <a:schemeClr val="bg1"/>
                </a:solidFill>
              </a:rPr>
            </a:br>
            <a:r>
              <a:rPr lang="en-IN" sz="3600" dirty="0">
                <a:solidFill>
                  <a:schemeClr val="bg1"/>
                </a:solidFill>
              </a:rPr>
              <a:t>Example aircraft:</a:t>
            </a:r>
            <a:br>
              <a:rPr lang="en-IN" sz="3600" dirty="0">
                <a:solidFill>
                  <a:schemeClr val="bg1"/>
                </a:solidFill>
              </a:rPr>
            </a:br>
            <a:r>
              <a:rPr lang="en-IN" sz="3600" dirty="0">
                <a:solidFill>
                  <a:schemeClr val="bg1"/>
                </a:solidFill>
              </a:rPr>
              <a:t>Boeing 787 Dreamliner</a:t>
            </a:r>
            <a:br>
              <a:rPr lang="en-IN" sz="3600" dirty="0">
                <a:solidFill>
                  <a:schemeClr val="bg1"/>
                </a:solidFill>
              </a:rPr>
            </a:br>
            <a:r>
              <a:rPr lang="en-IN" sz="3600" dirty="0">
                <a:solidFill>
                  <a:schemeClr val="bg1"/>
                </a:solidFill>
              </a:rPr>
              <a:t>Airbus A380</a:t>
            </a:r>
            <a:br>
              <a:rPr lang="en-IN" sz="3600" dirty="0">
                <a:solidFill>
                  <a:schemeClr val="bg1"/>
                </a:solidFill>
              </a:rPr>
            </a:br>
            <a:r>
              <a:rPr lang="en-IN" sz="3600" dirty="0">
                <a:solidFill>
                  <a:schemeClr val="bg1"/>
                </a:solidFill>
              </a:rPr>
              <a:t>Airbus A350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368171">
            <a:off x="6682386" y="2564091"/>
            <a:ext cx="8325708" cy="7947266"/>
          </a:xfrm>
          <a:custGeom>
            <a:avLst/>
            <a:gdLst/>
            <a:ahLst/>
            <a:cxnLst/>
            <a:rect l="l" t="t" r="r" b="b"/>
            <a:pathLst>
              <a:path w="8325708" h="7947266">
                <a:moveTo>
                  <a:pt x="0" y="0"/>
                </a:moveTo>
                <a:lnTo>
                  <a:pt x="8325708" y="0"/>
                </a:lnTo>
                <a:lnTo>
                  <a:pt x="8325708" y="7947266"/>
                </a:lnTo>
                <a:lnTo>
                  <a:pt x="0" y="794726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8999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-4538771" y="-249641"/>
            <a:ext cx="10786283" cy="10786283"/>
            <a:chOff x="0" y="0"/>
            <a:chExt cx="812800" cy="8128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2545393" y="1028700"/>
            <a:ext cx="3833305" cy="8229600"/>
            <a:chOff x="0" y="0"/>
            <a:chExt cx="593879" cy="127498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593879" cy="1274980"/>
            </a:xfrm>
            <a:custGeom>
              <a:avLst/>
              <a:gdLst/>
              <a:ahLst/>
              <a:cxnLst/>
              <a:rect l="l" t="t" r="r" b="b"/>
              <a:pathLst>
                <a:path w="593879" h="1274980">
                  <a:moveTo>
                    <a:pt x="201965" y="0"/>
                  </a:moveTo>
                  <a:lnTo>
                    <a:pt x="391915" y="0"/>
                  </a:lnTo>
                  <a:cubicBezTo>
                    <a:pt x="503457" y="0"/>
                    <a:pt x="593879" y="90423"/>
                    <a:pt x="593879" y="201965"/>
                  </a:cubicBezTo>
                  <a:lnTo>
                    <a:pt x="593879" y="1073016"/>
                  </a:lnTo>
                  <a:cubicBezTo>
                    <a:pt x="593879" y="1126580"/>
                    <a:pt x="572601" y="1177951"/>
                    <a:pt x="534725" y="1215826"/>
                  </a:cubicBezTo>
                  <a:cubicBezTo>
                    <a:pt x="496850" y="1253702"/>
                    <a:pt x="445479" y="1274980"/>
                    <a:pt x="391915" y="1274980"/>
                  </a:cubicBezTo>
                  <a:lnTo>
                    <a:pt x="201965" y="1274980"/>
                  </a:lnTo>
                  <a:cubicBezTo>
                    <a:pt x="90423" y="1274980"/>
                    <a:pt x="0" y="1184558"/>
                    <a:pt x="0" y="1073016"/>
                  </a:cubicBezTo>
                  <a:lnTo>
                    <a:pt x="0" y="201965"/>
                  </a:lnTo>
                  <a:cubicBezTo>
                    <a:pt x="0" y="90423"/>
                    <a:pt x="90423" y="0"/>
                    <a:pt x="201965" y="0"/>
                  </a:cubicBezTo>
                  <a:close/>
                </a:path>
              </a:pathLst>
            </a:custGeom>
            <a:blipFill>
              <a:blip r:embed="rId3"/>
              <a:stretch>
                <a:fillRect l="-43035"/>
              </a:stretch>
            </a:blipFill>
          </p:spPr>
        </p:sp>
      </p:grpSp>
      <p:grpSp>
        <p:nvGrpSpPr>
          <p:cNvPr id="8" name="Group 8"/>
          <p:cNvGrpSpPr/>
          <p:nvPr/>
        </p:nvGrpSpPr>
        <p:grpSpPr>
          <a:xfrm>
            <a:off x="17259300" y="-499283"/>
            <a:ext cx="10786283" cy="10786283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1" name="Freeform 11"/>
          <p:cNvSpPr/>
          <p:nvPr/>
        </p:nvSpPr>
        <p:spPr>
          <a:xfrm rot="5400000">
            <a:off x="-4080554" y="3955733"/>
            <a:ext cx="10536641" cy="2375534"/>
          </a:xfrm>
          <a:custGeom>
            <a:avLst/>
            <a:gdLst/>
            <a:ahLst/>
            <a:cxnLst/>
            <a:rect l="l" t="t" r="r" b="b"/>
            <a:pathLst>
              <a:path w="10536641" h="2375534">
                <a:moveTo>
                  <a:pt x="0" y="0"/>
                </a:moveTo>
                <a:lnTo>
                  <a:pt x="10536642" y="0"/>
                </a:lnTo>
                <a:lnTo>
                  <a:pt x="10536642" y="2375534"/>
                </a:lnTo>
                <a:lnTo>
                  <a:pt x="0" y="237553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17259300" y="4480324"/>
            <a:ext cx="4637582" cy="4114800"/>
          </a:xfrm>
          <a:custGeom>
            <a:avLst/>
            <a:gdLst/>
            <a:ahLst/>
            <a:cxnLst/>
            <a:rect l="l" t="t" r="r" b="b"/>
            <a:pathLst>
              <a:path w="4637582" h="4114800">
                <a:moveTo>
                  <a:pt x="0" y="0"/>
                </a:moveTo>
                <a:lnTo>
                  <a:pt x="4637582" y="0"/>
                </a:lnTo>
                <a:lnTo>
                  <a:pt x="463758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16582687" y="-2057400"/>
            <a:ext cx="4637582" cy="4114800"/>
          </a:xfrm>
          <a:custGeom>
            <a:avLst/>
            <a:gdLst/>
            <a:ahLst/>
            <a:cxnLst/>
            <a:rect l="l" t="t" r="r" b="b"/>
            <a:pathLst>
              <a:path w="4637582" h="4114800">
                <a:moveTo>
                  <a:pt x="0" y="0"/>
                </a:moveTo>
                <a:lnTo>
                  <a:pt x="4637582" y="0"/>
                </a:lnTo>
                <a:lnTo>
                  <a:pt x="463758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5240933" y="8744932"/>
            <a:ext cx="4637582" cy="4114800"/>
          </a:xfrm>
          <a:custGeom>
            <a:avLst/>
            <a:gdLst/>
            <a:ahLst/>
            <a:cxnLst/>
            <a:rect l="l" t="t" r="r" b="b"/>
            <a:pathLst>
              <a:path w="4637582" h="4114800">
                <a:moveTo>
                  <a:pt x="0" y="0"/>
                </a:moveTo>
                <a:lnTo>
                  <a:pt x="4637582" y="0"/>
                </a:lnTo>
                <a:lnTo>
                  <a:pt x="463758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5" name="TextBox 15"/>
          <p:cNvSpPr txBox="1"/>
          <p:nvPr/>
        </p:nvSpPr>
        <p:spPr>
          <a:xfrm>
            <a:off x="11920026" y="1179427"/>
            <a:ext cx="5215190" cy="16987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6606"/>
              </a:lnSpc>
            </a:pPr>
            <a:r>
              <a:rPr lang="en-US" sz="6061" b="1" dirty="0">
                <a:solidFill>
                  <a:srgbClr val="051D40"/>
                </a:solidFill>
                <a:latin typeface="Poppins Bold"/>
                <a:ea typeface="Poppins Bold"/>
                <a:cs typeface="Poppins Bold"/>
                <a:sym typeface="Poppins Bold"/>
              </a:rPr>
              <a:t> Booking Workflow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7739430" y="3397530"/>
            <a:ext cx="9261351" cy="35681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6"/>
              </a:lnSpc>
            </a:pPr>
            <a:r>
              <a:rPr lang="en-US" sz="2497" dirty="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The booking process works as follows:</a:t>
            </a:r>
            <a:br>
              <a:rPr lang="en-US" sz="2497" dirty="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lang="en-US" sz="2497" dirty="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Passenger enters travel information.</a:t>
            </a:r>
            <a:br>
              <a:rPr lang="en-US" sz="2497" dirty="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lang="en-US" sz="2497" dirty="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Booking is created.</a:t>
            </a:r>
            <a:br>
              <a:rPr lang="en-US" sz="2497" dirty="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lang="en-US" sz="2497" dirty="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Unique PNR is generated.</a:t>
            </a:r>
            <a:br>
              <a:rPr lang="en-US" sz="2497" dirty="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lang="en-US" sz="2497" dirty="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Aircraft is assigned.</a:t>
            </a:r>
            <a:br>
              <a:rPr lang="en-US" sz="2497" dirty="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lang="en-US" sz="2497" dirty="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Seat is allocated.</a:t>
            </a:r>
            <a:br>
              <a:rPr lang="en-US" sz="2497" dirty="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lang="en-US" sz="2497" dirty="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Passenger details are stored.</a:t>
            </a:r>
            <a:br>
              <a:rPr lang="en-US" sz="2497" dirty="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lang="en-US" sz="2497" dirty="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QR code and boarding pass are generated.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3768924" y="6735187"/>
            <a:ext cx="9460517" cy="9460517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377858" y="7663815"/>
            <a:ext cx="5246370" cy="5246370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2"/>
              <a:stretch>
                <a:fillRect t="-24906" b="-24906"/>
              </a:stretch>
            </a:blipFill>
          </p:spPr>
        </p:sp>
      </p:grpSp>
      <p:sp>
        <p:nvSpPr>
          <p:cNvPr id="7" name="Freeform 7"/>
          <p:cNvSpPr/>
          <p:nvPr/>
        </p:nvSpPr>
        <p:spPr>
          <a:xfrm rot="-1368171">
            <a:off x="8990179" y="3362764"/>
            <a:ext cx="8325708" cy="7947266"/>
          </a:xfrm>
          <a:custGeom>
            <a:avLst/>
            <a:gdLst/>
            <a:ahLst/>
            <a:cxnLst/>
            <a:rect l="l" t="t" r="r" b="b"/>
            <a:pathLst>
              <a:path w="8325708" h="7947266">
                <a:moveTo>
                  <a:pt x="0" y="0"/>
                </a:moveTo>
                <a:lnTo>
                  <a:pt x="8325708" y="0"/>
                </a:lnTo>
                <a:lnTo>
                  <a:pt x="8325708" y="7947266"/>
                </a:lnTo>
                <a:lnTo>
                  <a:pt x="0" y="794726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8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8" name="Group 8"/>
          <p:cNvGrpSpPr/>
          <p:nvPr/>
        </p:nvGrpSpPr>
        <p:grpSpPr>
          <a:xfrm>
            <a:off x="12596407" y="-5908704"/>
            <a:ext cx="9460517" cy="9460517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2663772" y="-2623185"/>
            <a:ext cx="5246370" cy="5246370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4"/>
              <a:stretch>
                <a:fillRect b="-50093"/>
              </a:stretch>
            </a:blipFill>
          </p:spPr>
        </p:sp>
      </p:grpSp>
      <p:sp>
        <p:nvSpPr>
          <p:cNvPr id="13" name="Freeform 13"/>
          <p:cNvSpPr/>
          <p:nvPr/>
        </p:nvSpPr>
        <p:spPr>
          <a:xfrm>
            <a:off x="16697199" y="1028700"/>
            <a:ext cx="5359726" cy="4755538"/>
          </a:xfrm>
          <a:custGeom>
            <a:avLst/>
            <a:gdLst/>
            <a:ahLst/>
            <a:cxnLst/>
            <a:rect l="l" t="t" r="r" b="b"/>
            <a:pathLst>
              <a:path w="5359726" h="4755538">
                <a:moveTo>
                  <a:pt x="0" y="0"/>
                </a:moveTo>
                <a:lnTo>
                  <a:pt x="5359725" y="0"/>
                </a:lnTo>
                <a:lnTo>
                  <a:pt x="5359725" y="4755538"/>
                </a:lnTo>
                <a:lnTo>
                  <a:pt x="0" y="475553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-3768924" y="6446453"/>
            <a:ext cx="5359726" cy="4755538"/>
          </a:xfrm>
          <a:custGeom>
            <a:avLst/>
            <a:gdLst/>
            <a:ahLst/>
            <a:cxnLst/>
            <a:rect l="l" t="t" r="r" b="b"/>
            <a:pathLst>
              <a:path w="5359726" h="4755538">
                <a:moveTo>
                  <a:pt x="0" y="0"/>
                </a:moveTo>
                <a:lnTo>
                  <a:pt x="5359725" y="0"/>
                </a:lnTo>
                <a:lnTo>
                  <a:pt x="5359725" y="4755538"/>
                </a:lnTo>
                <a:lnTo>
                  <a:pt x="0" y="475553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5" name="TextBox 15"/>
          <p:cNvSpPr txBox="1"/>
          <p:nvPr/>
        </p:nvSpPr>
        <p:spPr>
          <a:xfrm>
            <a:off x="6088290" y="2059966"/>
            <a:ext cx="6111420" cy="8524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606"/>
              </a:lnSpc>
            </a:pPr>
            <a:r>
              <a:rPr lang="en-US" sz="6061" b="1" dirty="0">
                <a:solidFill>
                  <a:srgbClr val="051D40"/>
                </a:solidFill>
                <a:latin typeface="Poppins Bold"/>
                <a:ea typeface="Poppins Bold"/>
                <a:cs typeface="Poppins Bold"/>
                <a:sym typeface="Poppins Bold"/>
              </a:rPr>
              <a:t>PNR Search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2788081" y="3514608"/>
            <a:ext cx="12711838" cy="40169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6"/>
              </a:lnSpc>
            </a:pPr>
            <a:r>
              <a:rPr lang="en-US" sz="2497" dirty="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PNR Full Form:</a:t>
            </a:r>
            <a:br>
              <a:rPr lang="en-US" sz="2497" dirty="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lang="en-US" sz="2497" dirty="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Passenger Name Record</a:t>
            </a:r>
            <a:br>
              <a:rPr lang="en-US" sz="2497" dirty="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lang="en-US" sz="2497" dirty="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A PNR is a unique booking identifier used to retrieve passenger details.</a:t>
            </a:r>
            <a:br>
              <a:rPr lang="en-US" sz="2497" dirty="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lang="en-US" sz="2497" dirty="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Using the PNR number, the system can display:</a:t>
            </a:r>
            <a:br>
              <a:rPr lang="en-US" sz="2497" dirty="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lang="en-US" sz="2497" dirty="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Passenger information</a:t>
            </a:r>
            <a:br>
              <a:rPr lang="en-US" sz="2497" dirty="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lang="en-US" sz="2497" dirty="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Flight details</a:t>
            </a:r>
            <a:br>
              <a:rPr lang="en-US" sz="2497" dirty="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lang="en-US" sz="2497" dirty="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Seat number</a:t>
            </a:r>
            <a:br>
              <a:rPr lang="en-US" sz="2497" dirty="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lang="en-US" sz="2497" dirty="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Travel route</a:t>
            </a:r>
            <a:br>
              <a:rPr lang="en-US" sz="2497" dirty="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lang="en-US" sz="2497" dirty="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Booking status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FB58739-710A-66BC-DE11-AB7962033D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AD5FCC74-B774-01A6-7AB2-234EF29F3817}"/>
              </a:ext>
            </a:extLst>
          </p:cNvPr>
          <p:cNvGrpSpPr/>
          <p:nvPr/>
        </p:nvGrpSpPr>
        <p:grpSpPr>
          <a:xfrm>
            <a:off x="-3768924" y="6735187"/>
            <a:ext cx="9460517" cy="9460517"/>
            <a:chOff x="0" y="0"/>
            <a:chExt cx="812800" cy="81280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810A4BDC-C516-2D1A-D2C6-1F695D2FC865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7936E63A-87F0-CA54-91D2-6F42EAC8291D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4B84FA5C-4FAF-333F-12A7-26D872B06DEA}"/>
              </a:ext>
            </a:extLst>
          </p:cNvPr>
          <p:cNvGrpSpPr/>
          <p:nvPr/>
        </p:nvGrpSpPr>
        <p:grpSpPr>
          <a:xfrm>
            <a:off x="377858" y="7663815"/>
            <a:ext cx="5246370" cy="5246370"/>
            <a:chOff x="0" y="0"/>
            <a:chExt cx="812800" cy="812800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ED9DA1FC-CF24-F319-A6CB-C8CCCF2C8759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2"/>
              <a:stretch>
                <a:fillRect t="-24906" b="-24906"/>
              </a:stretch>
            </a:blipFill>
          </p:spPr>
        </p:sp>
      </p:grpSp>
      <p:sp>
        <p:nvSpPr>
          <p:cNvPr id="7" name="Freeform 7">
            <a:extLst>
              <a:ext uri="{FF2B5EF4-FFF2-40B4-BE49-F238E27FC236}">
                <a16:creationId xmlns:a16="http://schemas.microsoft.com/office/drawing/2014/main" id="{ECE967D1-ADCF-34FF-553E-1D3923EDA5AC}"/>
              </a:ext>
            </a:extLst>
          </p:cNvPr>
          <p:cNvSpPr/>
          <p:nvPr/>
        </p:nvSpPr>
        <p:spPr>
          <a:xfrm rot="-1368171">
            <a:off x="8990179" y="3362764"/>
            <a:ext cx="8325708" cy="7947266"/>
          </a:xfrm>
          <a:custGeom>
            <a:avLst/>
            <a:gdLst/>
            <a:ahLst/>
            <a:cxnLst/>
            <a:rect l="l" t="t" r="r" b="b"/>
            <a:pathLst>
              <a:path w="8325708" h="7947266">
                <a:moveTo>
                  <a:pt x="0" y="0"/>
                </a:moveTo>
                <a:lnTo>
                  <a:pt x="8325708" y="0"/>
                </a:lnTo>
                <a:lnTo>
                  <a:pt x="8325708" y="7947266"/>
                </a:lnTo>
                <a:lnTo>
                  <a:pt x="0" y="794726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8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8" name="Group 8">
            <a:extLst>
              <a:ext uri="{FF2B5EF4-FFF2-40B4-BE49-F238E27FC236}">
                <a16:creationId xmlns:a16="http://schemas.microsoft.com/office/drawing/2014/main" id="{458AC639-6154-B899-0C19-7E17120202D8}"/>
              </a:ext>
            </a:extLst>
          </p:cNvPr>
          <p:cNvGrpSpPr/>
          <p:nvPr/>
        </p:nvGrpSpPr>
        <p:grpSpPr>
          <a:xfrm>
            <a:off x="12596407" y="-5908704"/>
            <a:ext cx="9460517" cy="9460517"/>
            <a:chOff x="0" y="0"/>
            <a:chExt cx="812800" cy="812800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AB337449-BE08-BFE1-3C50-C8BB5155F85F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CFA839A3-A43D-7618-E1D9-9A6F7A488FC2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1" name="Group 11">
            <a:extLst>
              <a:ext uri="{FF2B5EF4-FFF2-40B4-BE49-F238E27FC236}">
                <a16:creationId xmlns:a16="http://schemas.microsoft.com/office/drawing/2014/main" id="{5926365A-2B51-359C-13F0-87FDB31641B3}"/>
              </a:ext>
            </a:extLst>
          </p:cNvPr>
          <p:cNvGrpSpPr/>
          <p:nvPr/>
        </p:nvGrpSpPr>
        <p:grpSpPr>
          <a:xfrm>
            <a:off x="12663772" y="-2623185"/>
            <a:ext cx="5246370" cy="5246370"/>
            <a:chOff x="0" y="0"/>
            <a:chExt cx="812800" cy="812800"/>
          </a:xfrm>
        </p:grpSpPr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19794870-A65F-20FD-C676-A30FF448779C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4"/>
              <a:stretch>
                <a:fillRect b="-50093"/>
              </a:stretch>
            </a:blipFill>
          </p:spPr>
        </p:sp>
      </p:grpSp>
      <p:sp>
        <p:nvSpPr>
          <p:cNvPr id="13" name="Freeform 13">
            <a:extLst>
              <a:ext uri="{FF2B5EF4-FFF2-40B4-BE49-F238E27FC236}">
                <a16:creationId xmlns:a16="http://schemas.microsoft.com/office/drawing/2014/main" id="{A1B9250E-7ECA-A0D4-5835-9C18F4C14BC7}"/>
              </a:ext>
            </a:extLst>
          </p:cNvPr>
          <p:cNvSpPr/>
          <p:nvPr/>
        </p:nvSpPr>
        <p:spPr>
          <a:xfrm>
            <a:off x="16697199" y="1028700"/>
            <a:ext cx="5359726" cy="4755538"/>
          </a:xfrm>
          <a:custGeom>
            <a:avLst/>
            <a:gdLst/>
            <a:ahLst/>
            <a:cxnLst/>
            <a:rect l="l" t="t" r="r" b="b"/>
            <a:pathLst>
              <a:path w="5359726" h="4755538">
                <a:moveTo>
                  <a:pt x="0" y="0"/>
                </a:moveTo>
                <a:lnTo>
                  <a:pt x="5359725" y="0"/>
                </a:lnTo>
                <a:lnTo>
                  <a:pt x="5359725" y="4755538"/>
                </a:lnTo>
                <a:lnTo>
                  <a:pt x="0" y="475553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14">
            <a:extLst>
              <a:ext uri="{FF2B5EF4-FFF2-40B4-BE49-F238E27FC236}">
                <a16:creationId xmlns:a16="http://schemas.microsoft.com/office/drawing/2014/main" id="{C97C2667-679C-4049-F4FC-A12C4C71FA9D}"/>
              </a:ext>
            </a:extLst>
          </p:cNvPr>
          <p:cNvSpPr/>
          <p:nvPr/>
        </p:nvSpPr>
        <p:spPr>
          <a:xfrm>
            <a:off x="-3768924" y="6446453"/>
            <a:ext cx="5359726" cy="4755538"/>
          </a:xfrm>
          <a:custGeom>
            <a:avLst/>
            <a:gdLst/>
            <a:ahLst/>
            <a:cxnLst/>
            <a:rect l="l" t="t" r="r" b="b"/>
            <a:pathLst>
              <a:path w="5359726" h="4755538">
                <a:moveTo>
                  <a:pt x="0" y="0"/>
                </a:moveTo>
                <a:lnTo>
                  <a:pt x="5359725" y="0"/>
                </a:lnTo>
                <a:lnTo>
                  <a:pt x="5359725" y="4755538"/>
                </a:lnTo>
                <a:lnTo>
                  <a:pt x="0" y="475553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8EF5B173-41E2-E15A-D3A7-A3612672C4A3}"/>
              </a:ext>
            </a:extLst>
          </p:cNvPr>
          <p:cNvSpPr txBox="1"/>
          <p:nvPr/>
        </p:nvSpPr>
        <p:spPr>
          <a:xfrm>
            <a:off x="6088290" y="2059966"/>
            <a:ext cx="6111420" cy="16987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606"/>
              </a:lnSpc>
            </a:pPr>
            <a:r>
              <a:rPr lang="en-US" sz="6061" b="1">
                <a:solidFill>
                  <a:srgbClr val="051D40"/>
                </a:solidFill>
                <a:latin typeface="Poppins Bold"/>
                <a:ea typeface="Poppins Bold"/>
                <a:cs typeface="Poppins Bold"/>
                <a:sym typeface="Poppins Bold"/>
              </a:rPr>
              <a:t>QR Code and Boarding Pass</a:t>
            </a:r>
            <a:endParaRPr lang="en-US" sz="6061" b="1" dirty="0">
              <a:solidFill>
                <a:srgbClr val="051D40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FE1BA98E-FC9F-263D-277F-CB695606169B}"/>
              </a:ext>
            </a:extLst>
          </p:cNvPr>
          <p:cNvSpPr txBox="1"/>
          <p:nvPr/>
        </p:nvSpPr>
        <p:spPr>
          <a:xfrm>
            <a:off x="2788081" y="3514608"/>
            <a:ext cx="12711838" cy="40169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496"/>
              </a:lnSpc>
            </a:pPr>
            <a:endParaRPr lang="en-US" sz="2497" dirty="0">
              <a:solidFill>
                <a:srgbClr val="051D4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>
              <a:lnSpc>
                <a:spcPts val="3496"/>
              </a:lnSpc>
            </a:pPr>
            <a:r>
              <a:rPr lang="en-US" sz="2497" dirty="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For every booking:</a:t>
            </a:r>
          </a:p>
          <a:p>
            <a:pPr>
              <a:lnSpc>
                <a:spcPts val="3496"/>
              </a:lnSpc>
            </a:pPr>
            <a:r>
              <a:rPr lang="en-US" sz="2497" dirty="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A unique QR code is </a:t>
            </a:r>
            <a:r>
              <a:rPr lang="en-US" sz="2497" dirty="0" err="1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generated.Passenger</a:t>
            </a:r>
            <a:r>
              <a:rPr lang="en-US" sz="2497" dirty="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 information is </a:t>
            </a:r>
            <a:r>
              <a:rPr lang="en-US" sz="2497" dirty="0" err="1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encoded.QR</a:t>
            </a:r>
            <a:r>
              <a:rPr lang="en-US" sz="2497" dirty="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 code can be scanned for </a:t>
            </a:r>
            <a:r>
              <a:rPr lang="en-US" sz="2497" dirty="0" err="1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verification.Boarding</a:t>
            </a:r>
            <a:r>
              <a:rPr lang="en-US" sz="2497" dirty="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 pass can be downloaded as a PDF.</a:t>
            </a:r>
            <a:br>
              <a:rPr lang="en-US" sz="2497" dirty="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</a:br>
            <a:br>
              <a:rPr lang="en-US" sz="2497" dirty="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lang="en-US" sz="2497" dirty="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Benefits:</a:t>
            </a:r>
            <a:br>
              <a:rPr lang="en-US" sz="2497" dirty="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lang="en-US" sz="2497" dirty="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Faster verification</a:t>
            </a:r>
            <a:br>
              <a:rPr lang="en-US" sz="2497" dirty="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lang="en-US" sz="2497" dirty="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Improved security</a:t>
            </a:r>
            <a:br>
              <a:rPr lang="en-US" sz="2497" dirty="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lang="en-US" sz="2497" dirty="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Reduced manual work</a:t>
            </a:r>
          </a:p>
        </p:txBody>
      </p:sp>
    </p:spTree>
    <p:extLst>
      <p:ext uri="{BB962C8B-B14F-4D97-AF65-F5344CB8AC3E}">
        <p14:creationId xmlns:p14="http://schemas.microsoft.com/office/powerpoint/2010/main" val="9443564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614C22B-AF4D-215C-76C2-6999B1AC59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6958F795-7A78-4064-2177-1812EEDB85F0}"/>
              </a:ext>
            </a:extLst>
          </p:cNvPr>
          <p:cNvGrpSpPr/>
          <p:nvPr/>
        </p:nvGrpSpPr>
        <p:grpSpPr>
          <a:xfrm>
            <a:off x="-3768924" y="6735187"/>
            <a:ext cx="9460517" cy="9460517"/>
            <a:chOff x="0" y="0"/>
            <a:chExt cx="812800" cy="81280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000C989D-C410-AD9A-DC9A-3838A9141649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3250065-69CD-3F14-194B-EB3BB584F896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F9355AAC-3AA3-DA9C-3C96-596D6CC131D9}"/>
              </a:ext>
            </a:extLst>
          </p:cNvPr>
          <p:cNvGrpSpPr/>
          <p:nvPr/>
        </p:nvGrpSpPr>
        <p:grpSpPr>
          <a:xfrm>
            <a:off x="377858" y="7663815"/>
            <a:ext cx="5246370" cy="5246370"/>
            <a:chOff x="0" y="0"/>
            <a:chExt cx="812800" cy="812800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81E7429E-DB08-C952-42AA-41C4ABF49CF8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2"/>
              <a:stretch>
                <a:fillRect t="-24906" b="-24906"/>
              </a:stretch>
            </a:blipFill>
          </p:spPr>
        </p:sp>
      </p:grpSp>
      <p:sp>
        <p:nvSpPr>
          <p:cNvPr id="7" name="Freeform 7">
            <a:extLst>
              <a:ext uri="{FF2B5EF4-FFF2-40B4-BE49-F238E27FC236}">
                <a16:creationId xmlns:a16="http://schemas.microsoft.com/office/drawing/2014/main" id="{B8CAFEF8-B5D2-45B9-54E4-5D85224E90B0}"/>
              </a:ext>
            </a:extLst>
          </p:cNvPr>
          <p:cNvSpPr/>
          <p:nvPr/>
        </p:nvSpPr>
        <p:spPr>
          <a:xfrm rot="-1368171">
            <a:off x="8990179" y="3362764"/>
            <a:ext cx="8325708" cy="7947266"/>
          </a:xfrm>
          <a:custGeom>
            <a:avLst/>
            <a:gdLst/>
            <a:ahLst/>
            <a:cxnLst/>
            <a:rect l="l" t="t" r="r" b="b"/>
            <a:pathLst>
              <a:path w="8325708" h="7947266">
                <a:moveTo>
                  <a:pt x="0" y="0"/>
                </a:moveTo>
                <a:lnTo>
                  <a:pt x="8325708" y="0"/>
                </a:lnTo>
                <a:lnTo>
                  <a:pt x="8325708" y="7947266"/>
                </a:lnTo>
                <a:lnTo>
                  <a:pt x="0" y="794726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8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8" name="Group 8">
            <a:extLst>
              <a:ext uri="{FF2B5EF4-FFF2-40B4-BE49-F238E27FC236}">
                <a16:creationId xmlns:a16="http://schemas.microsoft.com/office/drawing/2014/main" id="{736DFB24-6CD9-066E-A8ED-00779DDD42D5}"/>
              </a:ext>
            </a:extLst>
          </p:cNvPr>
          <p:cNvGrpSpPr/>
          <p:nvPr/>
        </p:nvGrpSpPr>
        <p:grpSpPr>
          <a:xfrm>
            <a:off x="12596407" y="-5908704"/>
            <a:ext cx="9460517" cy="9460517"/>
            <a:chOff x="0" y="0"/>
            <a:chExt cx="812800" cy="812800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37102D5E-C8FB-350E-B862-41F365C6D80F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12129F82-9E62-8AA7-7436-5DD7304779DC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1" name="Group 11">
            <a:extLst>
              <a:ext uri="{FF2B5EF4-FFF2-40B4-BE49-F238E27FC236}">
                <a16:creationId xmlns:a16="http://schemas.microsoft.com/office/drawing/2014/main" id="{6E245B83-3E90-D697-501E-E07433B26D97}"/>
              </a:ext>
            </a:extLst>
          </p:cNvPr>
          <p:cNvGrpSpPr/>
          <p:nvPr/>
        </p:nvGrpSpPr>
        <p:grpSpPr>
          <a:xfrm>
            <a:off x="12663772" y="-2623185"/>
            <a:ext cx="5246370" cy="5246370"/>
            <a:chOff x="0" y="0"/>
            <a:chExt cx="812800" cy="812800"/>
          </a:xfrm>
        </p:grpSpPr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4B79A6B3-98A9-6060-8ACF-25351A94B3E5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4"/>
              <a:stretch>
                <a:fillRect b="-50093"/>
              </a:stretch>
            </a:blipFill>
          </p:spPr>
        </p:sp>
      </p:grpSp>
      <p:sp>
        <p:nvSpPr>
          <p:cNvPr id="13" name="Freeform 13">
            <a:extLst>
              <a:ext uri="{FF2B5EF4-FFF2-40B4-BE49-F238E27FC236}">
                <a16:creationId xmlns:a16="http://schemas.microsoft.com/office/drawing/2014/main" id="{3EE2B63C-A5A2-28C6-A3A5-9127B205A6D2}"/>
              </a:ext>
            </a:extLst>
          </p:cNvPr>
          <p:cNvSpPr/>
          <p:nvPr/>
        </p:nvSpPr>
        <p:spPr>
          <a:xfrm>
            <a:off x="16697199" y="1028700"/>
            <a:ext cx="5359726" cy="4755538"/>
          </a:xfrm>
          <a:custGeom>
            <a:avLst/>
            <a:gdLst/>
            <a:ahLst/>
            <a:cxnLst/>
            <a:rect l="l" t="t" r="r" b="b"/>
            <a:pathLst>
              <a:path w="5359726" h="4755538">
                <a:moveTo>
                  <a:pt x="0" y="0"/>
                </a:moveTo>
                <a:lnTo>
                  <a:pt x="5359725" y="0"/>
                </a:lnTo>
                <a:lnTo>
                  <a:pt x="5359725" y="4755538"/>
                </a:lnTo>
                <a:lnTo>
                  <a:pt x="0" y="475553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14">
            <a:extLst>
              <a:ext uri="{FF2B5EF4-FFF2-40B4-BE49-F238E27FC236}">
                <a16:creationId xmlns:a16="http://schemas.microsoft.com/office/drawing/2014/main" id="{62767B3D-8E11-115F-668E-24504833AD13}"/>
              </a:ext>
            </a:extLst>
          </p:cNvPr>
          <p:cNvSpPr/>
          <p:nvPr/>
        </p:nvSpPr>
        <p:spPr>
          <a:xfrm>
            <a:off x="-3768924" y="6446453"/>
            <a:ext cx="5359726" cy="4755538"/>
          </a:xfrm>
          <a:custGeom>
            <a:avLst/>
            <a:gdLst/>
            <a:ahLst/>
            <a:cxnLst/>
            <a:rect l="l" t="t" r="r" b="b"/>
            <a:pathLst>
              <a:path w="5359726" h="4755538">
                <a:moveTo>
                  <a:pt x="0" y="0"/>
                </a:moveTo>
                <a:lnTo>
                  <a:pt x="5359725" y="0"/>
                </a:lnTo>
                <a:lnTo>
                  <a:pt x="5359725" y="4755538"/>
                </a:lnTo>
                <a:lnTo>
                  <a:pt x="0" y="475553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7445E6ED-FCA0-0F0F-D579-BA10FE208F12}"/>
              </a:ext>
            </a:extLst>
          </p:cNvPr>
          <p:cNvSpPr txBox="1"/>
          <p:nvPr/>
        </p:nvSpPr>
        <p:spPr>
          <a:xfrm>
            <a:off x="6088290" y="2059966"/>
            <a:ext cx="6111420" cy="8524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606"/>
              </a:lnSpc>
            </a:pPr>
            <a:r>
              <a:rPr lang="en-US" sz="6061" b="1" dirty="0">
                <a:solidFill>
                  <a:srgbClr val="051D40"/>
                </a:solidFill>
                <a:latin typeface="Poppins Bold"/>
                <a:ea typeface="Poppins Bold"/>
                <a:cs typeface="Poppins Bold"/>
                <a:sym typeface="Poppins Bold"/>
              </a:rPr>
              <a:t>Advantages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A5FC85F7-FA63-E4A3-1DCF-86149271AC7D}"/>
              </a:ext>
            </a:extLst>
          </p:cNvPr>
          <p:cNvSpPr txBox="1"/>
          <p:nvPr/>
        </p:nvSpPr>
        <p:spPr>
          <a:xfrm>
            <a:off x="2788081" y="3514608"/>
            <a:ext cx="12711838" cy="35681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496"/>
              </a:lnSpc>
            </a:pPr>
            <a:r>
              <a:rPr lang="en-US" sz="2497" dirty="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The advantages of the system are:</a:t>
            </a:r>
            <a:br>
              <a:rPr lang="en-US" sz="2497" dirty="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lang="en-US" sz="2497" dirty="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User-friendly interface</a:t>
            </a:r>
            <a:br>
              <a:rPr lang="en-US" sz="2497" dirty="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lang="en-US" sz="2497" dirty="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Fast booking management</a:t>
            </a:r>
            <a:br>
              <a:rPr lang="en-US" sz="2497" dirty="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lang="en-US" sz="2497" dirty="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Automated seat allocation</a:t>
            </a:r>
            <a:br>
              <a:rPr lang="en-US" sz="2497" dirty="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lang="en-US" sz="2497" dirty="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Easy passenger tracking</a:t>
            </a:r>
            <a:br>
              <a:rPr lang="en-US" sz="2497" dirty="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lang="en-US" sz="2497" dirty="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Secure data storage</a:t>
            </a:r>
            <a:br>
              <a:rPr lang="en-US" sz="2497" dirty="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lang="en-US" sz="2497" dirty="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Digital boarding passes</a:t>
            </a:r>
            <a:br>
              <a:rPr lang="en-US" sz="2497" dirty="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lang="en-US" sz="2497" dirty="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Reduced human errors</a:t>
            </a:r>
          </a:p>
        </p:txBody>
      </p:sp>
    </p:spTree>
    <p:extLst>
      <p:ext uri="{BB962C8B-B14F-4D97-AF65-F5344CB8AC3E}">
        <p14:creationId xmlns:p14="http://schemas.microsoft.com/office/powerpoint/2010/main" val="27881502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673F0CB-0A31-8FB8-8991-9C4F90413C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B77D1C8B-2359-C6D6-2363-A3A03E0FCDFE}"/>
              </a:ext>
            </a:extLst>
          </p:cNvPr>
          <p:cNvGrpSpPr/>
          <p:nvPr/>
        </p:nvGrpSpPr>
        <p:grpSpPr>
          <a:xfrm>
            <a:off x="-3768924" y="6735187"/>
            <a:ext cx="9460517" cy="9460517"/>
            <a:chOff x="0" y="0"/>
            <a:chExt cx="812800" cy="81280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31339853-136D-FE09-2827-5CF399C73B0F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D84879E3-1FA2-4CAC-1790-4C2277B1EF32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B3CD33B6-76EE-EE31-5A46-72E7E76BFEDE}"/>
              </a:ext>
            </a:extLst>
          </p:cNvPr>
          <p:cNvGrpSpPr/>
          <p:nvPr/>
        </p:nvGrpSpPr>
        <p:grpSpPr>
          <a:xfrm>
            <a:off x="377858" y="7663815"/>
            <a:ext cx="5246370" cy="5246370"/>
            <a:chOff x="0" y="0"/>
            <a:chExt cx="812800" cy="812800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2B8D0424-2783-8959-5EDF-F8D1D20748FE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2"/>
              <a:stretch>
                <a:fillRect t="-24906" b="-24906"/>
              </a:stretch>
            </a:blipFill>
          </p:spPr>
        </p:sp>
      </p:grpSp>
      <p:sp>
        <p:nvSpPr>
          <p:cNvPr id="7" name="Freeform 7">
            <a:extLst>
              <a:ext uri="{FF2B5EF4-FFF2-40B4-BE49-F238E27FC236}">
                <a16:creationId xmlns:a16="http://schemas.microsoft.com/office/drawing/2014/main" id="{9A409B2A-037F-AC49-CC8C-3D776CEFA2C6}"/>
              </a:ext>
            </a:extLst>
          </p:cNvPr>
          <p:cNvSpPr/>
          <p:nvPr/>
        </p:nvSpPr>
        <p:spPr>
          <a:xfrm rot="-1368171">
            <a:off x="8990179" y="3362764"/>
            <a:ext cx="8325708" cy="7947266"/>
          </a:xfrm>
          <a:custGeom>
            <a:avLst/>
            <a:gdLst/>
            <a:ahLst/>
            <a:cxnLst/>
            <a:rect l="l" t="t" r="r" b="b"/>
            <a:pathLst>
              <a:path w="8325708" h="7947266">
                <a:moveTo>
                  <a:pt x="0" y="0"/>
                </a:moveTo>
                <a:lnTo>
                  <a:pt x="8325708" y="0"/>
                </a:lnTo>
                <a:lnTo>
                  <a:pt x="8325708" y="7947266"/>
                </a:lnTo>
                <a:lnTo>
                  <a:pt x="0" y="794726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8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8" name="Group 8">
            <a:extLst>
              <a:ext uri="{FF2B5EF4-FFF2-40B4-BE49-F238E27FC236}">
                <a16:creationId xmlns:a16="http://schemas.microsoft.com/office/drawing/2014/main" id="{D3D758EC-0026-7994-6F5A-A250D9DEDC72}"/>
              </a:ext>
            </a:extLst>
          </p:cNvPr>
          <p:cNvGrpSpPr/>
          <p:nvPr/>
        </p:nvGrpSpPr>
        <p:grpSpPr>
          <a:xfrm>
            <a:off x="12596407" y="-5908704"/>
            <a:ext cx="9460517" cy="9460517"/>
            <a:chOff x="0" y="0"/>
            <a:chExt cx="812800" cy="812800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3E37FF69-3777-2705-3C1D-E01A5C5F7052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45B65750-803D-6DBC-A88E-F48E6C04105C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1" name="Group 11">
            <a:extLst>
              <a:ext uri="{FF2B5EF4-FFF2-40B4-BE49-F238E27FC236}">
                <a16:creationId xmlns:a16="http://schemas.microsoft.com/office/drawing/2014/main" id="{ACB5ECE1-DC6C-23DC-F484-B7615B7965CF}"/>
              </a:ext>
            </a:extLst>
          </p:cNvPr>
          <p:cNvGrpSpPr/>
          <p:nvPr/>
        </p:nvGrpSpPr>
        <p:grpSpPr>
          <a:xfrm>
            <a:off x="12663772" y="-2623185"/>
            <a:ext cx="5246370" cy="5246370"/>
            <a:chOff x="0" y="0"/>
            <a:chExt cx="812800" cy="812800"/>
          </a:xfrm>
        </p:grpSpPr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9461ECF8-7288-8D41-BCD3-8C105AB2F9BD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4"/>
              <a:stretch>
                <a:fillRect b="-50093"/>
              </a:stretch>
            </a:blipFill>
          </p:spPr>
        </p:sp>
      </p:grpSp>
      <p:sp>
        <p:nvSpPr>
          <p:cNvPr id="13" name="Freeform 13">
            <a:extLst>
              <a:ext uri="{FF2B5EF4-FFF2-40B4-BE49-F238E27FC236}">
                <a16:creationId xmlns:a16="http://schemas.microsoft.com/office/drawing/2014/main" id="{F7D7D4E1-11D9-8B54-0067-AA73B8BCA304}"/>
              </a:ext>
            </a:extLst>
          </p:cNvPr>
          <p:cNvSpPr/>
          <p:nvPr/>
        </p:nvSpPr>
        <p:spPr>
          <a:xfrm>
            <a:off x="16697199" y="1028700"/>
            <a:ext cx="5359726" cy="4755538"/>
          </a:xfrm>
          <a:custGeom>
            <a:avLst/>
            <a:gdLst/>
            <a:ahLst/>
            <a:cxnLst/>
            <a:rect l="l" t="t" r="r" b="b"/>
            <a:pathLst>
              <a:path w="5359726" h="4755538">
                <a:moveTo>
                  <a:pt x="0" y="0"/>
                </a:moveTo>
                <a:lnTo>
                  <a:pt x="5359725" y="0"/>
                </a:lnTo>
                <a:lnTo>
                  <a:pt x="5359725" y="4755538"/>
                </a:lnTo>
                <a:lnTo>
                  <a:pt x="0" y="475553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14">
            <a:extLst>
              <a:ext uri="{FF2B5EF4-FFF2-40B4-BE49-F238E27FC236}">
                <a16:creationId xmlns:a16="http://schemas.microsoft.com/office/drawing/2014/main" id="{E58179E5-A8C4-FACE-8865-F36BC0CB825E}"/>
              </a:ext>
            </a:extLst>
          </p:cNvPr>
          <p:cNvSpPr/>
          <p:nvPr/>
        </p:nvSpPr>
        <p:spPr>
          <a:xfrm>
            <a:off x="-3768924" y="6446453"/>
            <a:ext cx="5359726" cy="4755538"/>
          </a:xfrm>
          <a:custGeom>
            <a:avLst/>
            <a:gdLst/>
            <a:ahLst/>
            <a:cxnLst/>
            <a:rect l="l" t="t" r="r" b="b"/>
            <a:pathLst>
              <a:path w="5359726" h="4755538">
                <a:moveTo>
                  <a:pt x="0" y="0"/>
                </a:moveTo>
                <a:lnTo>
                  <a:pt x="5359725" y="0"/>
                </a:lnTo>
                <a:lnTo>
                  <a:pt x="5359725" y="4755538"/>
                </a:lnTo>
                <a:lnTo>
                  <a:pt x="0" y="475553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741441FF-474F-3813-3542-B40D1A184088}"/>
              </a:ext>
            </a:extLst>
          </p:cNvPr>
          <p:cNvSpPr txBox="1"/>
          <p:nvPr/>
        </p:nvSpPr>
        <p:spPr>
          <a:xfrm>
            <a:off x="609600" y="336515"/>
            <a:ext cx="6111420" cy="16987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606"/>
              </a:lnSpc>
            </a:pPr>
            <a:r>
              <a:rPr lang="en-US" sz="6061" b="1" dirty="0">
                <a:solidFill>
                  <a:srgbClr val="051D40"/>
                </a:solidFill>
                <a:latin typeface="Poppins Bold"/>
                <a:ea typeface="Poppins Bold"/>
                <a:cs typeface="Poppins Bold"/>
                <a:sym typeface="Poppins Bold"/>
              </a:rPr>
              <a:t>Future Enhancements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6DB503D-83D8-EFB2-80C3-CC596F0CA7BE}"/>
              </a:ext>
            </a:extLst>
          </p:cNvPr>
          <p:cNvSpPr txBox="1"/>
          <p:nvPr/>
        </p:nvSpPr>
        <p:spPr>
          <a:xfrm>
            <a:off x="2746068" y="2367409"/>
            <a:ext cx="12909176" cy="4832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400" dirty="0"/>
              <a:t>Future improvements include:</a:t>
            </a:r>
            <a:br>
              <a:rPr lang="en-IN" sz="4400" dirty="0"/>
            </a:br>
            <a:r>
              <a:rPr lang="en-IN" sz="4400" dirty="0"/>
              <a:t>Online payment integration</a:t>
            </a:r>
            <a:br>
              <a:rPr lang="en-IN" sz="4400" dirty="0"/>
            </a:br>
            <a:r>
              <a:rPr lang="en-IN" sz="4400" dirty="0"/>
              <a:t>Real-time flight tracking</a:t>
            </a:r>
            <a:br>
              <a:rPr lang="en-IN" sz="4400" dirty="0"/>
            </a:br>
            <a:r>
              <a:rPr lang="en-IN" sz="4400" dirty="0"/>
              <a:t>Mobile application support</a:t>
            </a:r>
            <a:br>
              <a:rPr lang="en-IN" sz="4400" dirty="0"/>
            </a:br>
            <a:r>
              <a:rPr lang="en-IN" sz="4400" dirty="0"/>
              <a:t>Email and SMS notifications</a:t>
            </a:r>
            <a:br>
              <a:rPr lang="en-IN" sz="4400" dirty="0"/>
            </a:br>
            <a:r>
              <a:rPr lang="en-IN" sz="4400" dirty="0"/>
              <a:t>AI-based seat recommendations</a:t>
            </a:r>
            <a:br>
              <a:rPr lang="en-IN" sz="4400" dirty="0"/>
            </a:br>
            <a:r>
              <a:rPr lang="en-IN" sz="4400" dirty="0"/>
              <a:t>Multi-airline management support</a:t>
            </a:r>
          </a:p>
        </p:txBody>
      </p:sp>
    </p:spTree>
    <p:extLst>
      <p:ext uri="{BB962C8B-B14F-4D97-AF65-F5344CB8AC3E}">
        <p14:creationId xmlns:p14="http://schemas.microsoft.com/office/powerpoint/2010/main" val="238115371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1143C81-40B6-E812-57A1-EE7A8C6C77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74ECB489-6167-38A4-5662-4FCFB84581F5}"/>
              </a:ext>
            </a:extLst>
          </p:cNvPr>
          <p:cNvGrpSpPr/>
          <p:nvPr/>
        </p:nvGrpSpPr>
        <p:grpSpPr>
          <a:xfrm>
            <a:off x="-3768924" y="6735187"/>
            <a:ext cx="9460517" cy="9460517"/>
            <a:chOff x="0" y="0"/>
            <a:chExt cx="812800" cy="81280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7F32ECC9-6373-0FE5-6B05-C1DD142664E3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79847680-E2E4-3826-570E-B81A2370D06D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1C136D3D-A002-470D-8982-DBBAB9FCE027}"/>
              </a:ext>
            </a:extLst>
          </p:cNvPr>
          <p:cNvGrpSpPr/>
          <p:nvPr/>
        </p:nvGrpSpPr>
        <p:grpSpPr>
          <a:xfrm>
            <a:off x="377858" y="7663815"/>
            <a:ext cx="5246370" cy="5246370"/>
            <a:chOff x="0" y="0"/>
            <a:chExt cx="812800" cy="812800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856D843A-1ED4-57FC-745A-68CEFEDE0095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2"/>
              <a:stretch>
                <a:fillRect t="-24906" b="-24906"/>
              </a:stretch>
            </a:blipFill>
          </p:spPr>
        </p:sp>
      </p:grpSp>
      <p:sp>
        <p:nvSpPr>
          <p:cNvPr id="7" name="Freeform 7">
            <a:extLst>
              <a:ext uri="{FF2B5EF4-FFF2-40B4-BE49-F238E27FC236}">
                <a16:creationId xmlns:a16="http://schemas.microsoft.com/office/drawing/2014/main" id="{62C84E66-4AB6-91E9-145E-425B75F72965}"/>
              </a:ext>
            </a:extLst>
          </p:cNvPr>
          <p:cNvSpPr/>
          <p:nvPr/>
        </p:nvSpPr>
        <p:spPr>
          <a:xfrm rot="-1368171">
            <a:off x="8990179" y="3362764"/>
            <a:ext cx="8325708" cy="7947266"/>
          </a:xfrm>
          <a:custGeom>
            <a:avLst/>
            <a:gdLst/>
            <a:ahLst/>
            <a:cxnLst/>
            <a:rect l="l" t="t" r="r" b="b"/>
            <a:pathLst>
              <a:path w="8325708" h="7947266">
                <a:moveTo>
                  <a:pt x="0" y="0"/>
                </a:moveTo>
                <a:lnTo>
                  <a:pt x="8325708" y="0"/>
                </a:lnTo>
                <a:lnTo>
                  <a:pt x="8325708" y="7947266"/>
                </a:lnTo>
                <a:lnTo>
                  <a:pt x="0" y="794726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8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8" name="Group 8">
            <a:extLst>
              <a:ext uri="{FF2B5EF4-FFF2-40B4-BE49-F238E27FC236}">
                <a16:creationId xmlns:a16="http://schemas.microsoft.com/office/drawing/2014/main" id="{C167E399-3789-F01E-F28F-2E0C9E03DD74}"/>
              </a:ext>
            </a:extLst>
          </p:cNvPr>
          <p:cNvGrpSpPr/>
          <p:nvPr/>
        </p:nvGrpSpPr>
        <p:grpSpPr>
          <a:xfrm>
            <a:off x="12596407" y="-5908704"/>
            <a:ext cx="9460517" cy="9460517"/>
            <a:chOff x="0" y="0"/>
            <a:chExt cx="812800" cy="812800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E90F5559-E34E-F3F3-DF16-B4AC41AF2D53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84B7782C-522A-B9F8-F9F9-7399F6FE71FC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1" name="Group 11">
            <a:extLst>
              <a:ext uri="{FF2B5EF4-FFF2-40B4-BE49-F238E27FC236}">
                <a16:creationId xmlns:a16="http://schemas.microsoft.com/office/drawing/2014/main" id="{7E8A8C0A-4774-7F7B-9683-AA9BBA8B5EF0}"/>
              </a:ext>
            </a:extLst>
          </p:cNvPr>
          <p:cNvGrpSpPr/>
          <p:nvPr/>
        </p:nvGrpSpPr>
        <p:grpSpPr>
          <a:xfrm>
            <a:off x="12663772" y="-2623185"/>
            <a:ext cx="5246370" cy="5246370"/>
            <a:chOff x="0" y="0"/>
            <a:chExt cx="812800" cy="812800"/>
          </a:xfrm>
        </p:grpSpPr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9D595561-FA87-58BD-CFCC-E65B63606A71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4"/>
              <a:stretch>
                <a:fillRect b="-50093"/>
              </a:stretch>
            </a:blipFill>
          </p:spPr>
        </p:sp>
      </p:grpSp>
      <p:sp>
        <p:nvSpPr>
          <p:cNvPr id="13" name="Freeform 13">
            <a:extLst>
              <a:ext uri="{FF2B5EF4-FFF2-40B4-BE49-F238E27FC236}">
                <a16:creationId xmlns:a16="http://schemas.microsoft.com/office/drawing/2014/main" id="{02F91E7E-7120-1381-7203-B2671C487261}"/>
              </a:ext>
            </a:extLst>
          </p:cNvPr>
          <p:cNvSpPr/>
          <p:nvPr/>
        </p:nvSpPr>
        <p:spPr>
          <a:xfrm>
            <a:off x="16697199" y="1028700"/>
            <a:ext cx="5359726" cy="4755538"/>
          </a:xfrm>
          <a:custGeom>
            <a:avLst/>
            <a:gdLst/>
            <a:ahLst/>
            <a:cxnLst/>
            <a:rect l="l" t="t" r="r" b="b"/>
            <a:pathLst>
              <a:path w="5359726" h="4755538">
                <a:moveTo>
                  <a:pt x="0" y="0"/>
                </a:moveTo>
                <a:lnTo>
                  <a:pt x="5359725" y="0"/>
                </a:lnTo>
                <a:lnTo>
                  <a:pt x="5359725" y="4755538"/>
                </a:lnTo>
                <a:lnTo>
                  <a:pt x="0" y="475553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14">
            <a:extLst>
              <a:ext uri="{FF2B5EF4-FFF2-40B4-BE49-F238E27FC236}">
                <a16:creationId xmlns:a16="http://schemas.microsoft.com/office/drawing/2014/main" id="{6274CA49-6763-D137-0962-D0D340BF0B67}"/>
              </a:ext>
            </a:extLst>
          </p:cNvPr>
          <p:cNvSpPr/>
          <p:nvPr/>
        </p:nvSpPr>
        <p:spPr>
          <a:xfrm>
            <a:off x="-3768924" y="6446453"/>
            <a:ext cx="5359726" cy="4755538"/>
          </a:xfrm>
          <a:custGeom>
            <a:avLst/>
            <a:gdLst/>
            <a:ahLst/>
            <a:cxnLst/>
            <a:rect l="l" t="t" r="r" b="b"/>
            <a:pathLst>
              <a:path w="5359726" h="4755538">
                <a:moveTo>
                  <a:pt x="0" y="0"/>
                </a:moveTo>
                <a:lnTo>
                  <a:pt x="5359725" y="0"/>
                </a:lnTo>
                <a:lnTo>
                  <a:pt x="5359725" y="4755538"/>
                </a:lnTo>
                <a:lnTo>
                  <a:pt x="0" y="475553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BE07D500-B0D8-37F7-623A-DD89BDD09349}"/>
              </a:ext>
            </a:extLst>
          </p:cNvPr>
          <p:cNvSpPr txBox="1"/>
          <p:nvPr/>
        </p:nvSpPr>
        <p:spPr>
          <a:xfrm>
            <a:off x="609600" y="336515"/>
            <a:ext cx="6111420" cy="8524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606"/>
              </a:lnSpc>
            </a:pPr>
            <a:r>
              <a:rPr lang="en-US" sz="6061" b="1" dirty="0">
                <a:solidFill>
                  <a:srgbClr val="051D40"/>
                </a:solidFill>
                <a:latin typeface="Poppins Bold"/>
                <a:ea typeface="Poppins Bold"/>
                <a:cs typeface="Poppins Bold"/>
                <a:sym typeface="Poppins Bold"/>
              </a:rPr>
              <a:t>Conclusion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5434E83-EA2C-4F42-8D6D-3CB82E6079B9}"/>
              </a:ext>
            </a:extLst>
          </p:cNvPr>
          <p:cNvSpPr txBox="1"/>
          <p:nvPr/>
        </p:nvSpPr>
        <p:spPr>
          <a:xfrm>
            <a:off x="2746068" y="2367409"/>
            <a:ext cx="12909176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In conclusion, the </a:t>
            </a:r>
            <a:r>
              <a:rPr lang="en-US" sz="2400" dirty="0" err="1"/>
              <a:t>SkyPNR</a:t>
            </a:r>
            <a:r>
              <a:rPr lang="en-US" sz="2400" dirty="0"/>
              <a:t> Airline Management System successfully automates airline operations.</a:t>
            </a:r>
            <a:br>
              <a:rPr lang="en-US" sz="2400" dirty="0"/>
            </a:br>
            <a:r>
              <a:rPr lang="en-US" sz="2400" dirty="0"/>
              <a:t>The project provides:</a:t>
            </a:r>
            <a:br>
              <a:rPr lang="en-US" sz="2400" dirty="0"/>
            </a:br>
            <a:r>
              <a:rPr lang="en-US" sz="2400" dirty="0"/>
              <a:t>Passenger management</a:t>
            </a:r>
            <a:br>
              <a:rPr lang="en-US" sz="2400" dirty="0"/>
            </a:br>
            <a:r>
              <a:rPr lang="en-US" sz="2400" dirty="0"/>
              <a:t>Aircraft management</a:t>
            </a:r>
            <a:br>
              <a:rPr lang="en-US" sz="2400" dirty="0"/>
            </a:br>
            <a:r>
              <a:rPr lang="en-US" sz="2400" dirty="0"/>
              <a:t>Booking management</a:t>
            </a:r>
            <a:br>
              <a:rPr lang="en-US" sz="2400" dirty="0"/>
            </a:br>
            <a:r>
              <a:rPr lang="en-US" sz="2400" dirty="0"/>
              <a:t>Seat allocation</a:t>
            </a:r>
            <a:br>
              <a:rPr lang="en-US" sz="2400" dirty="0"/>
            </a:br>
            <a:r>
              <a:rPr lang="en-US" sz="2400" dirty="0"/>
              <a:t>PNR search</a:t>
            </a:r>
            <a:br>
              <a:rPr lang="en-US" sz="2400" dirty="0"/>
            </a:br>
            <a:r>
              <a:rPr lang="en-US" sz="2400" dirty="0"/>
              <a:t>QR </a:t>
            </a:r>
            <a:r>
              <a:rPr lang="en-US" sz="2400"/>
              <a:t>code generation</a:t>
            </a:r>
            <a:br>
              <a:rPr lang="en-US" sz="2400"/>
            </a:br>
            <a:r>
              <a:rPr lang="en-US" sz="2400"/>
              <a:t>Boarding pass download</a:t>
            </a:r>
            <a:br>
              <a:rPr lang="en-US" sz="2400"/>
            </a:br>
            <a:r>
              <a:rPr lang="en-US" sz="2400"/>
              <a:t>This system improves operational efficiency, reduces manual effort, and enhances passenger experience.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294634110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19B3E48-F840-37CC-A3D6-48AC20E11D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7A91C19D-FC6E-9C42-192C-0CC173443C61}"/>
              </a:ext>
            </a:extLst>
          </p:cNvPr>
          <p:cNvSpPr/>
          <p:nvPr/>
        </p:nvSpPr>
        <p:spPr>
          <a:xfrm rot="-1368171">
            <a:off x="2537321" y="2532154"/>
            <a:ext cx="8325708" cy="7947266"/>
          </a:xfrm>
          <a:custGeom>
            <a:avLst/>
            <a:gdLst/>
            <a:ahLst/>
            <a:cxnLst/>
            <a:rect l="l" t="t" r="r" b="b"/>
            <a:pathLst>
              <a:path w="8325708" h="7947266">
                <a:moveTo>
                  <a:pt x="0" y="0"/>
                </a:moveTo>
                <a:lnTo>
                  <a:pt x="8325707" y="0"/>
                </a:lnTo>
                <a:lnTo>
                  <a:pt x="8325707" y="7947267"/>
                </a:lnTo>
                <a:lnTo>
                  <a:pt x="0" y="794726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8999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FADC8F51-7CAD-BACF-A38F-F10D3FECDAB9}"/>
              </a:ext>
            </a:extLst>
          </p:cNvPr>
          <p:cNvGrpSpPr/>
          <p:nvPr/>
        </p:nvGrpSpPr>
        <p:grpSpPr>
          <a:xfrm>
            <a:off x="12077703" y="3366867"/>
            <a:ext cx="9460517" cy="9460517"/>
            <a:chOff x="0" y="0"/>
            <a:chExt cx="812800" cy="812800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E5A3BFA8-9EDA-5F43-D901-0E4F1BC9284D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81D81F74-3035-AB5A-6DD7-44C8F98603AA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6" name="Group 6">
            <a:extLst>
              <a:ext uri="{FF2B5EF4-FFF2-40B4-BE49-F238E27FC236}">
                <a16:creationId xmlns:a16="http://schemas.microsoft.com/office/drawing/2014/main" id="{47C2CA24-01D0-5494-C140-B259FA337EBF}"/>
              </a:ext>
            </a:extLst>
          </p:cNvPr>
          <p:cNvGrpSpPr/>
          <p:nvPr/>
        </p:nvGrpSpPr>
        <p:grpSpPr>
          <a:xfrm>
            <a:off x="9168318" y="-2824047"/>
            <a:ext cx="3852747" cy="3852747"/>
            <a:chOff x="0" y="0"/>
            <a:chExt cx="812800" cy="812800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970E003C-868F-DA68-4E9A-7C29407C3998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5A7C361E-5353-3826-E3AB-88F640DB88C3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9" name="Freeform 9">
            <a:extLst>
              <a:ext uri="{FF2B5EF4-FFF2-40B4-BE49-F238E27FC236}">
                <a16:creationId xmlns:a16="http://schemas.microsoft.com/office/drawing/2014/main" id="{CA269D35-43DD-732D-8600-FE7795190B46}"/>
              </a:ext>
            </a:extLst>
          </p:cNvPr>
          <p:cNvSpPr/>
          <p:nvPr/>
        </p:nvSpPr>
        <p:spPr>
          <a:xfrm>
            <a:off x="16851686" y="2858315"/>
            <a:ext cx="4637582" cy="4114800"/>
          </a:xfrm>
          <a:custGeom>
            <a:avLst/>
            <a:gdLst/>
            <a:ahLst/>
            <a:cxnLst/>
            <a:rect l="l" t="t" r="r" b="b"/>
            <a:pathLst>
              <a:path w="4637582" h="4114800">
                <a:moveTo>
                  <a:pt x="0" y="0"/>
                </a:moveTo>
                <a:lnTo>
                  <a:pt x="4637582" y="0"/>
                </a:lnTo>
                <a:lnTo>
                  <a:pt x="463758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>
            <a:extLst>
              <a:ext uri="{FF2B5EF4-FFF2-40B4-BE49-F238E27FC236}">
                <a16:creationId xmlns:a16="http://schemas.microsoft.com/office/drawing/2014/main" id="{411B9B33-B3D6-18EB-F7B3-949C21E40131}"/>
              </a:ext>
            </a:extLst>
          </p:cNvPr>
          <p:cNvSpPr/>
          <p:nvPr/>
        </p:nvSpPr>
        <p:spPr>
          <a:xfrm>
            <a:off x="10349506" y="-3086100"/>
            <a:ext cx="4637582" cy="4114800"/>
          </a:xfrm>
          <a:custGeom>
            <a:avLst/>
            <a:gdLst/>
            <a:ahLst/>
            <a:cxnLst/>
            <a:rect l="l" t="t" r="r" b="b"/>
            <a:pathLst>
              <a:path w="4637582" h="4114800">
                <a:moveTo>
                  <a:pt x="0" y="0"/>
                </a:moveTo>
                <a:lnTo>
                  <a:pt x="4637582" y="0"/>
                </a:lnTo>
                <a:lnTo>
                  <a:pt x="463758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11" name="Group 11">
            <a:extLst>
              <a:ext uri="{FF2B5EF4-FFF2-40B4-BE49-F238E27FC236}">
                <a16:creationId xmlns:a16="http://schemas.microsoft.com/office/drawing/2014/main" id="{DD58B6A5-E148-462B-15FE-5CC3A8453B93}"/>
              </a:ext>
            </a:extLst>
          </p:cNvPr>
          <p:cNvGrpSpPr/>
          <p:nvPr/>
        </p:nvGrpSpPr>
        <p:grpSpPr>
          <a:xfrm>
            <a:off x="-1292181" y="-648104"/>
            <a:ext cx="5791604" cy="5791604"/>
            <a:chOff x="0" y="0"/>
            <a:chExt cx="812800" cy="812800"/>
          </a:xfrm>
        </p:grpSpPr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40BF214C-11B2-C624-45BF-99AAEC2B7C9A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id="13" name="TextBox 13">
              <a:extLst>
                <a:ext uri="{FF2B5EF4-FFF2-40B4-BE49-F238E27FC236}">
                  <a16:creationId xmlns:a16="http://schemas.microsoft.com/office/drawing/2014/main" id="{10DB84B8-FA37-B2E8-407E-A940381EEB06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4" name="TextBox 14">
            <a:extLst>
              <a:ext uri="{FF2B5EF4-FFF2-40B4-BE49-F238E27FC236}">
                <a16:creationId xmlns:a16="http://schemas.microsoft.com/office/drawing/2014/main" id="{63FD9AA8-F158-C289-88DF-E93A60653BFB}"/>
              </a:ext>
            </a:extLst>
          </p:cNvPr>
          <p:cNvSpPr txBox="1"/>
          <p:nvPr/>
        </p:nvSpPr>
        <p:spPr>
          <a:xfrm>
            <a:off x="2682247" y="3376392"/>
            <a:ext cx="7052696" cy="41253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543"/>
              </a:lnSpc>
            </a:pPr>
            <a:r>
              <a:rPr lang="en-US" sz="14259" b="1">
                <a:solidFill>
                  <a:srgbClr val="051D40"/>
                </a:solidFill>
                <a:latin typeface="Poppins Bold"/>
                <a:ea typeface="Poppins Bold"/>
                <a:cs typeface="Poppins Bold"/>
                <a:sym typeface="Poppins Bold"/>
              </a:rPr>
              <a:t>THANK YOU</a:t>
            </a:r>
          </a:p>
        </p:txBody>
      </p:sp>
      <p:sp>
        <p:nvSpPr>
          <p:cNvPr id="15" name="Freeform 15">
            <a:extLst>
              <a:ext uri="{FF2B5EF4-FFF2-40B4-BE49-F238E27FC236}">
                <a16:creationId xmlns:a16="http://schemas.microsoft.com/office/drawing/2014/main" id="{EFF2C67D-EF5B-3191-8E55-F1375D355B78}"/>
              </a:ext>
            </a:extLst>
          </p:cNvPr>
          <p:cNvSpPr/>
          <p:nvPr/>
        </p:nvSpPr>
        <p:spPr>
          <a:xfrm>
            <a:off x="-3031172" y="2417472"/>
            <a:ext cx="5134435" cy="4555644"/>
          </a:xfrm>
          <a:custGeom>
            <a:avLst/>
            <a:gdLst/>
            <a:ahLst/>
            <a:cxnLst/>
            <a:rect l="l" t="t" r="r" b="b"/>
            <a:pathLst>
              <a:path w="5134435" h="4555644">
                <a:moveTo>
                  <a:pt x="0" y="0"/>
                </a:moveTo>
                <a:lnTo>
                  <a:pt x="5134434" y="0"/>
                </a:lnTo>
                <a:lnTo>
                  <a:pt x="5134434" y="4555643"/>
                </a:lnTo>
                <a:lnTo>
                  <a:pt x="0" y="455564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</p:spTree>
    <p:extLst>
      <p:ext uri="{BB962C8B-B14F-4D97-AF65-F5344CB8AC3E}">
        <p14:creationId xmlns:p14="http://schemas.microsoft.com/office/powerpoint/2010/main" val="26448447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603</Words>
  <Application>Microsoft Office PowerPoint</Application>
  <PresentationFormat>Custom</PresentationFormat>
  <Paragraphs>57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Poppins Bold</vt:lpstr>
      <vt:lpstr>Arial</vt:lpstr>
      <vt:lpstr>Calibri</vt:lpstr>
      <vt:lpstr>Poppins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Blue Modern Minimalist Website Development Project Presentation</dc:title>
  <cp:lastModifiedBy>Sahithi Paloji</cp:lastModifiedBy>
  <cp:revision>3</cp:revision>
  <dcterms:created xsi:type="dcterms:W3CDTF">2006-08-16T00:00:00Z</dcterms:created>
  <dcterms:modified xsi:type="dcterms:W3CDTF">2026-06-19T03:49:04Z</dcterms:modified>
  <dc:identifier>DAHM-z7YxEE</dc:identifier>
</cp:coreProperties>
</file>